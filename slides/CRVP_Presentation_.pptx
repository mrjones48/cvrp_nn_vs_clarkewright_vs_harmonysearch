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4" r:id="rId4"/>
    <p:sldId id="258" r:id="rId5"/>
    <p:sldId id="259" r:id="rId6"/>
    <p:sldId id="266" r:id="rId7"/>
    <p:sldId id="267" r:id="rId8"/>
    <p:sldId id="269" r:id="rId9"/>
    <p:sldId id="268" r:id="rId10"/>
    <p:sldId id="271" r:id="rId11"/>
    <p:sldId id="272" r:id="rId12"/>
    <p:sldId id="270" r:id="rId13"/>
    <p:sldId id="263" r:id="rId14"/>
    <p:sldId id="265" r:id="rId15"/>
  </p:sldIdLst>
  <p:sldSz cx="12192000" cy="6858000"/>
  <p:notesSz cx="6858000" cy="9144000"/>
  <p:defaultTextStyle>
    <a:defPPr>
      <a:defRPr lang="en-JP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A1DB4F-AAFC-2106-CB30-0ECD2D4A4941}" v="1" dt="2026-07-24T18:45:17.020"/>
    <p1510:client id="{525A0609-5C4C-B445-BE71-55A93C03BED3}" v="110" dt="2026-07-26T05:04:05.045"/>
    <p1510:client id="{8FA2DB4D-2AD7-011A-6D9D-EB9B2DD7C05C}" v="23" dt="2026-07-24T19:33:51.16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643"/>
  </p:normalViewPr>
  <p:slideViewPr>
    <p:cSldViewPr snapToGrid="0">
      <p:cViewPr varScale="1">
        <p:scale>
          <a:sx n="88" d="100"/>
          <a:sy n="88" d="100"/>
        </p:scale>
        <p:origin x="176" y="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D748616-6ECA-4CC5-B3EB-C95D35D1F119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E83E6DAD-BB30-4EC5-A937-EB0468F506C4}">
      <dgm:prSet/>
      <dgm:spPr/>
      <dgm:t>
        <a:bodyPr/>
        <a:lstStyle/>
        <a:p>
          <a:r>
            <a:rPr lang="en-US"/>
            <a:t>Vehicle Routing Problem (VRP): optimize delivery routes for a fleet of vehicles. </a:t>
          </a:r>
        </a:p>
      </dgm:t>
    </dgm:pt>
    <dgm:pt modelId="{29131B6E-3D0C-48AE-ACD6-75D1AB05B591}" type="parTrans" cxnId="{AA2C1AB8-9E55-4FF9-B5C3-79FC828008A4}">
      <dgm:prSet/>
      <dgm:spPr/>
      <dgm:t>
        <a:bodyPr/>
        <a:lstStyle/>
        <a:p>
          <a:endParaRPr lang="en-US"/>
        </a:p>
      </dgm:t>
    </dgm:pt>
    <dgm:pt modelId="{C550063F-8D11-4282-9D4B-29561B06C4B6}" type="sibTrans" cxnId="{AA2C1AB8-9E55-4FF9-B5C3-79FC828008A4}">
      <dgm:prSet/>
      <dgm:spPr/>
      <dgm:t>
        <a:bodyPr/>
        <a:lstStyle/>
        <a:p>
          <a:endParaRPr lang="en-US"/>
        </a:p>
      </dgm:t>
    </dgm:pt>
    <dgm:pt modelId="{6C0FC8CD-F500-4EC3-BC83-D8FEA7691D9A}">
      <dgm:prSet/>
      <dgm:spPr/>
      <dgm:t>
        <a:bodyPr/>
        <a:lstStyle/>
        <a:p>
          <a:r>
            <a:rPr lang="en-US"/>
            <a:t>Focus: Capacitated Vehicle Routing Problem (CVRP). </a:t>
          </a:r>
        </a:p>
      </dgm:t>
    </dgm:pt>
    <dgm:pt modelId="{788CED9D-2D3D-4B45-99E0-BE8E62526234}" type="parTrans" cxnId="{517DD2F4-D130-4ED6-8DCC-1DC3BF5FD411}">
      <dgm:prSet/>
      <dgm:spPr/>
      <dgm:t>
        <a:bodyPr/>
        <a:lstStyle/>
        <a:p>
          <a:endParaRPr lang="en-US"/>
        </a:p>
      </dgm:t>
    </dgm:pt>
    <dgm:pt modelId="{69F6E57A-C9A3-483D-A74D-B479D46482A5}" type="sibTrans" cxnId="{517DD2F4-D130-4ED6-8DCC-1DC3BF5FD411}">
      <dgm:prSet/>
      <dgm:spPr/>
      <dgm:t>
        <a:bodyPr/>
        <a:lstStyle/>
        <a:p>
          <a:endParaRPr lang="en-US"/>
        </a:p>
      </dgm:t>
    </dgm:pt>
    <dgm:pt modelId="{7DF7C929-6E8E-43DF-93EC-07CD83D8DCEC}">
      <dgm:prSet/>
      <dgm:spPr/>
      <dgm:t>
        <a:bodyPr/>
        <a:lstStyle/>
        <a:p>
          <a:r>
            <a:rPr lang="en-US"/>
            <a:t>Vehicles have fixed capacity constraints.</a:t>
          </a:r>
        </a:p>
      </dgm:t>
    </dgm:pt>
    <dgm:pt modelId="{76BACFDA-5407-430D-B21B-3CA38D77433D}" type="parTrans" cxnId="{FC4EBF00-3B4C-4734-9AFA-8A5B857DF0AB}">
      <dgm:prSet/>
      <dgm:spPr/>
      <dgm:t>
        <a:bodyPr/>
        <a:lstStyle/>
        <a:p>
          <a:endParaRPr lang="en-US"/>
        </a:p>
      </dgm:t>
    </dgm:pt>
    <dgm:pt modelId="{C1E7C17B-37FC-4CF9-9AC8-F5204BE75955}" type="sibTrans" cxnId="{FC4EBF00-3B4C-4734-9AFA-8A5B857DF0AB}">
      <dgm:prSet/>
      <dgm:spPr/>
      <dgm:t>
        <a:bodyPr/>
        <a:lstStyle/>
        <a:p>
          <a:endParaRPr lang="en-US"/>
        </a:p>
      </dgm:t>
    </dgm:pt>
    <dgm:pt modelId="{F1DFDE2E-2B72-4613-B6F3-C0DDCBA5B681}">
      <dgm:prSet/>
      <dgm:spPr/>
      <dgm:t>
        <a:bodyPr/>
        <a:lstStyle/>
        <a:p>
          <a:r>
            <a:rPr lang="en-US"/>
            <a:t>Goal: minimize total travel distance while satisfying all customer demand. </a:t>
          </a:r>
        </a:p>
      </dgm:t>
    </dgm:pt>
    <dgm:pt modelId="{8A9BB623-CC68-4CAD-9434-9EAC166F9F3A}" type="parTrans" cxnId="{CCB48B5F-8304-45D9-BC26-F048B9813E05}">
      <dgm:prSet/>
      <dgm:spPr/>
      <dgm:t>
        <a:bodyPr/>
        <a:lstStyle/>
        <a:p>
          <a:endParaRPr lang="en-US"/>
        </a:p>
      </dgm:t>
    </dgm:pt>
    <dgm:pt modelId="{5095F19D-80B7-402F-93F8-8CA5E30142CD}" type="sibTrans" cxnId="{CCB48B5F-8304-45D9-BC26-F048B9813E05}">
      <dgm:prSet/>
      <dgm:spPr/>
      <dgm:t>
        <a:bodyPr/>
        <a:lstStyle/>
        <a:p>
          <a:endParaRPr lang="en-US"/>
        </a:p>
      </dgm:t>
    </dgm:pt>
    <dgm:pt modelId="{5F5F4580-675A-4C15-9B36-6FBC80FEFC01}">
      <dgm:prSet/>
      <dgm:spPr/>
      <dgm:t>
        <a:bodyPr/>
        <a:lstStyle/>
        <a:p>
          <a:r>
            <a:rPr lang="en-US"/>
            <a:t>CVRP is NP-hard and closely related to the Traveling Salesman Problem. </a:t>
          </a:r>
        </a:p>
      </dgm:t>
    </dgm:pt>
    <dgm:pt modelId="{9D515C1F-E812-4219-83A3-50046CC180D0}" type="parTrans" cxnId="{9D31275E-2EFA-4AAA-8F4E-7F8B26A40601}">
      <dgm:prSet/>
      <dgm:spPr/>
      <dgm:t>
        <a:bodyPr/>
        <a:lstStyle/>
        <a:p>
          <a:endParaRPr lang="en-US"/>
        </a:p>
      </dgm:t>
    </dgm:pt>
    <dgm:pt modelId="{0040A8D6-65FD-4AD8-9829-47BD22EA0306}" type="sibTrans" cxnId="{9D31275E-2EFA-4AAA-8F4E-7F8B26A40601}">
      <dgm:prSet/>
      <dgm:spPr/>
      <dgm:t>
        <a:bodyPr/>
        <a:lstStyle/>
        <a:p>
          <a:endParaRPr lang="en-US"/>
        </a:p>
      </dgm:t>
    </dgm:pt>
    <dgm:pt modelId="{30061AAD-5A80-45B9-A117-B8B468C2A309}">
      <dgm:prSet/>
      <dgm:spPr/>
      <dgm:t>
        <a:bodyPr/>
        <a:lstStyle/>
        <a:p>
          <a:r>
            <a:rPr lang="en-US"/>
            <a:t>Heuristic methods provide practical solutions for large instances. </a:t>
          </a:r>
        </a:p>
      </dgm:t>
    </dgm:pt>
    <dgm:pt modelId="{3488B117-5516-4003-8BC0-0CF1EE342BA5}" type="parTrans" cxnId="{FBDE95F3-8F9C-49E8-A9A9-FAB51758F8F4}">
      <dgm:prSet/>
      <dgm:spPr/>
      <dgm:t>
        <a:bodyPr/>
        <a:lstStyle/>
        <a:p>
          <a:endParaRPr lang="en-US"/>
        </a:p>
      </dgm:t>
    </dgm:pt>
    <dgm:pt modelId="{38D225F0-BC56-4934-A3C4-10CB240497B1}" type="sibTrans" cxnId="{FBDE95F3-8F9C-49E8-A9A9-FAB51758F8F4}">
      <dgm:prSet/>
      <dgm:spPr/>
      <dgm:t>
        <a:bodyPr/>
        <a:lstStyle/>
        <a:p>
          <a:endParaRPr lang="en-US"/>
        </a:p>
      </dgm:t>
    </dgm:pt>
    <dgm:pt modelId="{F9E21DD2-4080-4606-8C3B-B03A04E29727}" type="pres">
      <dgm:prSet presAssocID="{9D748616-6ECA-4CC5-B3EB-C95D35D1F119}" presName="diagram" presStyleCnt="0">
        <dgm:presLayoutVars>
          <dgm:dir/>
          <dgm:resizeHandles val="exact"/>
        </dgm:presLayoutVars>
      </dgm:prSet>
      <dgm:spPr/>
    </dgm:pt>
    <dgm:pt modelId="{9B845857-9E29-41A3-BEA5-2BE7DC4D75AF}" type="pres">
      <dgm:prSet presAssocID="{E83E6DAD-BB30-4EC5-A937-EB0468F506C4}" presName="node" presStyleLbl="node1" presStyleIdx="0" presStyleCnt="6">
        <dgm:presLayoutVars>
          <dgm:bulletEnabled val="1"/>
        </dgm:presLayoutVars>
      </dgm:prSet>
      <dgm:spPr/>
    </dgm:pt>
    <dgm:pt modelId="{BF3C8496-F4D5-4953-AF44-1FD4EFA2D7C2}" type="pres">
      <dgm:prSet presAssocID="{C550063F-8D11-4282-9D4B-29561B06C4B6}" presName="sibTrans" presStyleCnt="0"/>
      <dgm:spPr/>
    </dgm:pt>
    <dgm:pt modelId="{FAB31C6B-CB36-4138-B223-3233B98D6847}" type="pres">
      <dgm:prSet presAssocID="{6C0FC8CD-F500-4EC3-BC83-D8FEA7691D9A}" presName="node" presStyleLbl="node1" presStyleIdx="1" presStyleCnt="6">
        <dgm:presLayoutVars>
          <dgm:bulletEnabled val="1"/>
        </dgm:presLayoutVars>
      </dgm:prSet>
      <dgm:spPr/>
    </dgm:pt>
    <dgm:pt modelId="{D7BBB530-D7EC-4C97-990B-564D6F0FCB20}" type="pres">
      <dgm:prSet presAssocID="{69F6E57A-C9A3-483D-A74D-B479D46482A5}" presName="sibTrans" presStyleCnt="0"/>
      <dgm:spPr/>
    </dgm:pt>
    <dgm:pt modelId="{B15ED343-863F-4EB6-A9E8-8F51642686B5}" type="pres">
      <dgm:prSet presAssocID="{7DF7C929-6E8E-43DF-93EC-07CD83D8DCEC}" presName="node" presStyleLbl="node1" presStyleIdx="2" presStyleCnt="6">
        <dgm:presLayoutVars>
          <dgm:bulletEnabled val="1"/>
        </dgm:presLayoutVars>
      </dgm:prSet>
      <dgm:spPr/>
    </dgm:pt>
    <dgm:pt modelId="{B3533990-B7C5-4102-8B40-21F3448AD582}" type="pres">
      <dgm:prSet presAssocID="{C1E7C17B-37FC-4CF9-9AC8-F5204BE75955}" presName="sibTrans" presStyleCnt="0"/>
      <dgm:spPr/>
    </dgm:pt>
    <dgm:pt modelId="{A19C0829-8948-4920-B2E8-E68F7330B4CD}" type="pres">
      <dgm:prSet presAssocID="{F1DFDE2E-2B72-4613-B6F3-C0DDCBA5B681}" presName="node" presStyleLbl="node1" presStyleIdx="3" presStyleCnt="6">
        <dgm:presLayoutVars>
          <dgm:bulletEnabled val="1"/>
        </dgm:presLayoutVars>
      </dgm:prSet>
      <dgm:spPr/>
    </dgm:pt>
    <dgm:pt modelId="{BAD3B42B-B8E7-4F8E-84FA-4F30A89FE5FD}" type="pres">
      <dgm:prSet presAssocID="{5095F19D-80B7-402F-93F8-8CA5E30142CD}" presName="sibTrans" presStyleCnt="0"/>
      <dgm:spPr/>
    </dgm:pt>
    <dgm:pt modelId="{4301DCD1-B360-4BBF-8E18-56E85C168A80}" type="pres">
      <dgm:prSet presAssocID="{5F5F4580-675A-4C15-9B36-6FBC80FEFC01}" presName="node" presStyleLbl="node1" presStyleIdx="4" presStyleCnt="6">
        <dgm:presLayoutVars>
          <dgm:bulletEnabled val="1"/>
        </dgm:presLayoutVars>
      </dgm:prSet>
      <dgm:spPr/>
    </dgm:pt>
    <dgm:pt modelId="{9840025C-000D-4B45-8AD0-CD1B40730174}" type="pres">
      <dgm:prSet presAssocID="{0040A8D6-65FD-4AD8-9829-47BD22EA0306}" presName="sibTrans" presStyleCnt="0"/>
      <dgm:spPr/>
    </dgm:pt>
    <dgm:pt modelId="{B3AE106D-7423-4177-8D2E-D8969221E388}" type="pres">
      <dgm:prSet presAssocID="{30061AAD-5A80-45B9-A117-B8B468C2A309}" presName="node" presStyleLbl="node1" presStyleIdx="5" presStyleCnt="6">
        <dgm:presLayoutVars>
          <dgm:bulletEnabled val="1"/>
        </dgm:presLayoutVars>
      </dgm:prSet>
      <dgm:spPr/>
    </dgm:pt>
  </dgm:ptLst>
  <dgm:cxnLst>
    <dgm:cxn modelId="{FC4EBF00-3B4C-4734-9AFA-8A5B857DF0AB}" srcId="{9D748616-6ECA-4CC5-B3EB-C95D35D1F119}" destId="{7DF7C929-6E8E-43DF-93EC-07CD83D8DCEC}" srcOrd="2" destOrd="0" parTransId="{76BACFDA-5407-430D-B21B-3CA38D77433D}" sibTransId="{C1E7C17B-37FC-4CF9-9AC8-F5204BE75955}"/>
    <dgm:cxn modelId="{9D31275E-2EFA-4AAA-8F4E-7F8B26A40601}" srcId="{9D748616-6ECA-4CC5-B3EB-C95D35D1F119}" destId="{5F5F4580-675A-4C15-9B36-6FBC80FEFC01}" srcOrd="4" destOrd="0" parTransId="{9D515C1F-E812-4219-83A3-50046CC180D0}" sibTransId="{0040A8D6-65FD-4AD8-9829-47BD22EA0306}"/>
    <dgm:cxn modelId="{CCB48B5F-8304-45D9-BC26-F048B9813E05}" srcId="{9D748616-6ECA-4CC5-B3EB-C95D35D1F119}" destId="{F1DFDE2E-2B72-4613-B6F3-C0DDCBA5B681}" srcOrd="3" destOrd="0" parTransId="{8A9BB623-CC68-4CAD-9434-9EAC166F9F3A}" sibTransId="{5095F19D-80B7-402F-93F8-8CA5E30142CD}"/>
    <dgm:cxn modelId="{88A00B74-5494-4131-8A18-F8A31EA2F052}" type="presOf" srcId="{7DF7C929-6E8E-43DF-93EC-07CD83D8DCEC}" destId="{B15ED343-863F-4EB6-A9E8-8F51642686B5}" srcOrd="0" destOrd="0" presId="urn:microsoft.com/office/officeart/2005/8/layout/default"/>
    <dgm:cxn modelId="{E8108779-D65D-42A2-8DF3-1D30B9571CEB}" type="presOf" srcId="{F1DFDE2E-2B72-4613-B6F3-C0DDCBA5B681}" destId="{A19C0829-8948-4920-B2E8-E68F7330B4CD}" srcOrd="0" destOrd="0" presId="urn:microsoft.com/office/officeart/2005/8/layout/default"/>
    <dgm:cxn modelId="{4B63CF90-435E-40B2-BDD9-6B360BDA5A1F}" type="presOf" srcId="{6C0FC8CD-F500-4EC3-BC83-D8FEA7691D9A}" destId="{FAB31C6B-CB36-4138-B223-3233B98D6847}" srcOrd="0" destOrd="0" presId="urn:microsoft.com/office/officeart/2005/8/layout/default"/>
    <dgm:cxn modelId="{AA2C1AB8-9E55-4FF9-B5C3-79FC828008A4}" srcId="{9D748616-6ECA-4CC5-B3EB-C95D35D1F119}" destId="{E83E6DAD-BB30-4EC5-A937-EB0468F506C4}" srcOrd="0" destOrd="0" parTransId="{29131B6E-3D0C-48AE-ACD6-75D1AB05B591}" sibTransId="{C550063F-8D11-4282-9D4B-29561B06C4B6}"/>
    <dgm:cxn modelId="{D96BF8D8-5559-40CA-897C-A8020C001381}" type="presOf" srcId="{30061AAD-5A80-45B9-A117-B8B468C2A309}" destId="{B3AE106D-7423-4177-8D2E-D8969221E388}" srcOrd="0" destOrd="0" presId="urn:microsoft.com/office/officeart/2005/8/layout/default"/>
    <dgm:cxn modelId="{A23388EF-114E-4EB2-BCC8-CA7C84DE6293}" type="presOf" srcId="{E83E6DAD-BB30-4EC5-A937-EB0468F506C4}" destId="{9B845857-9E29-41A3-BEA5-2BE7DC4D75AF}" srcOrd="0" destOrd="0" presId="urn:microsoft.com/office/officeart/2005/8/layout/default"/>
    <dgm:cxn modelId="{FBDE95F3-8F9C-49E8-A9A9-FAB51758F8F4}" srcId="{9D748616-6ECA-4CC5-B3EB-C95D35D1F119}" destId="{30061AAD-5A80-45B9-A117-B8B468C2A309}" srcOrd="5" destOrd="0" parTransId="{3488B117-5516-4003-8BC0-0CF1EE342BA5}" sibTransId="{38D225F0-BC56-4934-A3C4-10CB240497B1}"/>
    <dgm:cxn modelId="{274992F4-42BE-4406-BC5B-A4936E61F19E}" type="presOf" srcId="{5F5F4580-675A-4C15-9B36-6FBC80FEFC01}" destId="{4301DCD1-B360-4BBF-8E18-56E85C168A80}" srcOrd="0" destOrd="0" presId="urn:microsoft.com/office/officeart/2005/8/layout/default"/>
    <dgm:cxn modelId="{517DD2F4-D130-4ED6-8DCC-1DC3BF5FD411}" srcId="{9D748616-6ECA-4CC5-B3EB-C95D35D1F119}" destId="{6C0FC8CD-F500-4EC3-BC83-D8FEA7691D9A}" srcOrd="1" destOrd="0" parTransId="{788CED9D-2D3D-4B45-99E0-BE8E62526234}" sibTransId="{69F6E57A-C9A3-483D-A74D-B479D46482A5}"/>
    <dgm:cxn modelId="{90CF82FB-DBB7-4E27-A3FC-8AD676F0ED82}" type="presOf" srcId="{9D748616-6ECA-4CC5-B3EB-C95D35D1F119}" destId="{F9E21DD2-4080-4606-8C3B-B03A04E29727}" srcOrd="0" destOrd="0" presId="urn:microsoft.com/office/officeart/2005/8/layout/default"/>
    <dgm:cxn modelId="{C82A34CB-4200-498D-905B-AEA576B0139F}" type="presParOf" srcId="{F9E21DD2-4080-4606-8C3B-B03A04E29727}" destId="{9B845857-9E29-41A3-BEA5-2BE7DC4D75AF}" srcOrd="0" destOrd="0" presId="urn:microsoft.com/office/officeart/2005/8/layout/default"/>
    <dgm:cxn modelId="{F18A81F5-68BF-4C89-97E5-B46B7A4A1FE0}" type="presParOf" srcId="{F9E21DD2-4080-4606-8C3B-B03A04E29727}" destId="{BF3C8496-F4D5-4953-AF44-1FD4EFA2D7C2}" srcOrd="1" destOrd="0" presId="urn:microsoft.com/office/officeart/2005/8/layout/default"/>
    <dgm:cxn modelId="{81BA9405-C452-4614-81C9-21D43A093A5A}" type="presParOf" srcId="{F9E21DD2-4080-4606-8C3B-B03A04E29727}" destId="{FAB31C6B-CB36-4138-B223-3233B98D6847}" srcOrd="2" destOrd="0" presId="urn:microsoft.com/office/officeart/2005/8/layout/default"/>
    <dgm:cxn modelId="{54FC9B8A-70A1-4F4D-9189-5608F6C802FB}" type="presParOf" srcId="{F9E21DD2-4080-4606-8C3B-B03A04E29727}" destId="{D7BBB530-D7EC-4C97-990B-564D6F0FCB20}" srcOrd="3" destOrd="0" presId="urn:microsoft.com/office/officeart/2005/8/layout/default"/>
    <dgm:cxn modelId="{C959B695-A755-479C-B47E-3BA982CB5DE4}" type="presParOf" srcId="{F9E21DD2-4080-4606-8C3B-B03A04E29727}" destId="{B15ED343-863F-4EB6-A9E8-8F51642686B5}" srcOrd="4" destOrd="0" presId="urn:microsoft.com/office/officeart/2005/8/layout/default"/>
    <dgm:cxn modelId="{799A3A60-C93F-4927-ABA0-40002EAFE41D}" type="presParOf" srcId="{F9E21DD2-4080-4606-8C3B-B03A04E29727}" destId="{B3533990-B7C5-4102-8B40-21F3448AD582}" srcOrd="5" destOrd="0" presId="urn:microsoft.com/office/officeart/2005/8/layout/default"/>
    <dgm:cxn modelId="{7F7CC2A8-F27F-4DD4-A7B4-A72D7B71F11F}" type="presParOf" srcId="{F9E21DD2-4080-4606-8C3B-B03A04E29727}" destId="{A19C0829-8948-4920-B2E8-E68F7330B4CD}" srcOrd="6" destOrd="0" presId="urn:microsoft.com/office/officeart/2005/8/layout/default"/>
    <dgm:cxn modelId="{32ABCF73-E60C-4D36-9FA3-42BF580AC996}" type="presParOf" srcId="{F9E21DD2-4080-4606-8C3B-B03A04E29727}" destId="{BAD3B42B-B8E7-4F8E-84FA-4F30A89FE5FD}" srcOrd="7" destOrd="0" presId="urn:microsoft.com/office/officeart/2005/8/layout/default"/>
    <dgm:cxn modelId="{05BEC876-CAF3-4AB5-A02F-4FBBA25478A4}" type="presParOf" srcId="{F9E21DD2-4080-4606-8C3B-B03A04E29727}" destId="{4301DCD1-B360-4BBF-8E18-56E85C168A80}" srcOrd="8" destOrd="0" presId="urn:microsoft.com/office/officeart/2005/8/layout/default"/>
    <dgm:cxn modelId="{64A7D718-7163-4F36-A2C8-9129D4D3AFE2}" type="presParOf" srcId="{F9E21DD2-4080-4606-8C3B-B03A04E29727}" destId="{9840025C-000D-4B45-8AD0-CD1B40730174}" srcOrd="9" destOrd="0" presId="urn:microsoft.com/office/officeart/2005/8/layout/default"/>
    <dgm:cxn modelId="{52A49849-01C0-4CB9-8277-1DC8C707E2D5}" type="presParOf" srcId="{F9E21DD2-4080-4606-8C3B-B03A04E29727}" destId="{B3AE106D-7423-4177-8D2E-D8969221E388}" srcOrd="10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E23051D-C214-457B-AC35-65555307A81F}" type="doc">
      <dgm:prSet loTypeId="urn:microsoft.com/office/officeart/2005/8/layout/vList2" loCatId="list" qsTypeId="urn:microsoft.com/office/officeart/2005/8/quickstyle/simple2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2B66F1C1-2BF6-46E3-BAB2-0D34D8D27EC0}">
      <dgm:prSet/>
      <dgm:spPr/>
      <dgm:t>
        <a:bodyPr/>
        <a:lstStyle/>
        <a:p>
          <a:r>
            <a:rPr lang="en-US"/>
            <a:t>Observed runtime growth aligns with theoretical complexity. </a:t>
          </a:r>
        </a:p>
      </dgm:t>
    </dgm:pt>
    <dgm:pt modelId="{7D24EDBF-245C-47F6-8AAE-C7C5155144E7}" type="parTrans" cxnId="{56F04738-4612-4ADA-ADF0-FF1C57576BCE}">
      <dgm:prSet/>
      <dgm:spPr/>
      <dgm:t>
        <a:bodyPr/>
        <a:lstStyle/>
        <a:p>
          <a:endParaRPr lang="en-US"/>
        </a:p>
      </dgm:t>
    </dgm:pt>
    <dgm:pt modelId="{9DFD1C9E-69D5-4874-9224-025D31284FA5}" type="sibTrans" cxnId="{56F04738-4612-4ADA-ADF0-FF1C57576BCE}">
      <dgm:prSet/>
      <dgm:spPr/>
      <dgm:t>
        <a:bodyPr/>
        <a:lstStyle/>
        <a:p>
          <a:endParaRPr lang="en-US"/>
        </a:p>
      </dgm:t>
    </dgm:pt>
    <dgm:pt modelId="{CF4D2C25-D0EE-48D3-B62C-6B449AEAE412}">
      <dgm:prSet/>
      <dgm:spPr/>
      <dgm:t>
        <a:bodyPr/>
        <a:lstStyle/>
        <a:p>
          <a:r>
            <a:rPr lang="en-US"/>
            <a:t>NN scales efficiently but sacrifices route quality. </a:t>
          </a:r>
        </a:p>
      </dgm:t>
    </dgm:pt>
    <dgm:pt modelId="{83C8E078-B627-4ED3-B719-14A957C63F9A}" type="parTrans" cxnId="{FCF60B32-2234-41A1-993B-5D663A50E135}">
      <dgm:prSet/>
      <dgm:spPr/>
      <dgm:t>
        <a:bodyPr/>
        <a:lstStyle/>
        <a:p>
          <a:endParaRPr lang="en-US"/>
        </a:p>
      </dgm:t>
    </dgm:pt>
    <dgm:pt modelId="{688D19AB-AEB6-445B-B65C-E548DFF23819}" type="sibTrans" cxnId="{FCF60B32-2234-41A1-993B-5D663A50E135}">
      <dgm:prSet/>
      <dgm:spPr/>
      <dgm:t>
        <a:bodyPr/>
        <a:lstStyle/>
        <a:p>
          <a:endParaRPr lang="en-US"/>
        </a:p>
      </dgm:t>
    </dgm:pt>
    <dgm:pt modelId="{8099C7E4-DAC9-430E-A7D8-BCB0513C9AA0}">
      <dgm:prSet/>
      <dgm:spPr/>
      <dgm:t>
        <a:bodyPr/>
        <a:lstStyle/>
        <a:p>
          <a:r>
            <a:rPr lang="en-US"/>
            <a:t>CW maintains strong solution quality with moderate runtime costs. </a:t>
          </a:r>
        </a:p>
      </dgm:t>
    </dgm:pt>
    <dgm:pt modelId="{3A33199E-7187-493B-A50C-3E2770B9F603}" type="parTrans" cxnId="{BD6263E3-13B4-4139-8536-0E890EA3DD56}">
      <dgm:prSet/>
      <dgm:spPr/>
      <dgm:t>
        <a:bodyPr/>
        <a:lstStyle/>
        <a:p>
          <a:endParaRPr lang="en-US"/>
        </a:p>
      </dgm:t>
    </dgm:pt>
    <dgm:pt modelId="{3F564540-C1FD-4B0D-B541-5A201CEDA403}" type="sibTrans" cxnId="{BD6263E3-13B4-4139-8536-0E890EA3DD56}">
      <dgm:prSet/>
      <dgm:spPr/>
      <dgm:t>
        <a:bodyPr/>
        <a:lstStyle/>
        <a:p>
          <a:endParaRPr lang="en-US"/>
        </a:p>
      </dgm:t>
    </dgm:pt>
    <dgm:pt modelId="{683924CE-83F9-4D92-922D-D25D6FAA73F1}">
      <dgm:prSet/>
      <dgm:spPr/>
      <dgm:t>
        <a:bodyPr/>
        <a:lstStyle/>
        <a:p>
          <a:r>
            <a:rPr lang="en-US"/>
            <a:t>HS incurs substantially higher computational cost. </a:t>
          </a:r>
        </a:p>
      </dgm:t>
    </dgm:pt>
    <dgm:pt modelId="{264B4472-E497-48E0-BDEF-B12672C761DB}" type="parTrans" cxnId="{27EED122-CB75-48F8-A5EF-CD73A20D7C15}">
      <dgm:prSet/>
      <dgm:spPr/>
      <dgm:t>
        <a:bodyPr/>
        <a:lstStyle/>
        <a:p>
          <a:endParaRPr lang="en-US"/>
        </a:p>
      </dgm:t>
    </dgm:pt>
    <dgm:pt modelId="{CF74EFF2-CF59-43AA-B365-31A459AA4B2D}" type="sibTrans" cxnId="{27EED122-CB75-48F8-A5EF-CD73A20D7C15}">
      <dgm:prSet/>
      <dgm:spPr/>
      <dgm:t>
        <a:bodyPr/>
        <a:lstStyle/>
        <a:p>
          <a:endParaRPr lang="en-US"/>
        </a:p>
      </dgm:t>
    </dgm:pt>
    <dgm:pt modelId="{CFA75E0C-BB14-4228-A7C5-845C3456D489}">
      <dgm:prSet/>
      <dgm:spPr/>
      <dgm:t>
        <a:bodyPr/>
        <a:lstStyle/>
        <a:p>
          <a:r>
            <a:rPr lang="en-US"/>
            <a:t>Results suggest Harmony Search performance may depend heavily on parameter tuning and implementation details. </a:t>
          </a:r>
        </a:p>
      </dgm:t>
    </dgm:pt>
    <dgm:pt modelId="{EC9505A5-28F2-4CBB-9492-1349FE465B2C}" type="parTrans" cxnId="{876BA128-B1DD-470B-AA94-8DE6FB73E028}">
      <dgm:prSet/>
      <dgm:spPr/>
      <dgm:t>
        <a:bodyPr/>
        <a:lstStyle/>
        <a:p>
          <a:endParaRPr lang="en-US"/>
        </a:p>
      </dgm:t>
    </dgm:pt>
    <dgm:pt modelId="{AC0B46F9-C255-4F19-B702-89D902DDFAC5}" type="sibTrans" cxnId="{876BA128-B1DD-470B-AA94-8DE6FB73E028}">
      <dgm:prSet/>
      <dgm:spPr/>
      <dgm:t>
        <a:bodyPr/>
        <a:lstStyle/>
        <a:p>
          <a:endParaRPr lang="en-US"/>
        </a:p>
      </dgm:t>
    </dgm:pt>
    <dgm:pt modelId="{1DC0D9B7-F72E-4880-89DA-91165B5A6D83}">
      <dgm:prSet/>
      <dgm:spPr/>
      <dgm:t>
        <a:bodyPr/>
        <a:lstStyle/>
        <a:p>
          <a:r>
            <a:rPr lang="en-US"/>
            <a:t>Overall best balance: Clarke-Wright Savings.</a:t>
          </a:r>
        </a:p>
      </dgm:t>
    </dgm:pt>
    <dgm:pt modelId="{0F22F289-0118-4EA9-B801-3075F22EA646}" type="parTrans" cxnId="{3EBB79EA-8BF1-4AA3-8D23-3ABE13F84A27}">
      <dgm:prSet/>
      <dgm:spPr/>
      <dgm:t>
        <a:bodyPr/>
        <a:lstStyle/>
        <a:p>
          <a:endParaRPr lang="en-US"/>
        </a:p>
      </dgm:t>
    </dgm:pt>
    <dgm:pt modelId="{8E8BE655-C01E-4218-8328-96DF5BFD3EC2}" type="sibTrans" cxnId="{3EBB79EA-8BF1-4AA3-8D23-3ABE13F84A27}">
      <dgm:prSet/>
      <dgm:spPr/>
      <dgm:t>
        <a:bodyPr/>
        <a:lstStyle/>
        <a:p>
          <a:endParaRPr lang="en-US"/>
        </a:p>
      </dgm:t>
    </dgm:pt>
    <dgm:pt modelId="{5355ADEB-C43A-4FD6-8A2C-AA0E89B589A8}" type="pres">
      <dgm:prSet presAssocID="{FE23051D-C214-457B-AC35-65555307A81F}" presName="linear" presStyleCnt="0">
        <dgm:presLayoutVars>
          <dgm:animLvl val="lvl"/>
          <dgm:resizeHandles val="exact"/>
        </dgm:presLayoutVars>
      </dgm:prSet>
      <dgm:spPr/>
    </dgm:pt>
    <dgm:pt modelId="{605C5128-5B2A-4ED0-81D6-13EB506E72E9}" type="pres">
      <dgm:prSet presAssocID="{2B66F1C1-2BF6-46E3-BAB2-0D34D8D27EC0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43EFF129-DE92-45D4-84D4-2CFE7798D4BD}" type="pres">
      <dgm:prSet presAssocID="{9DFD1C9E-69D5-4874-9224-025D31284FA5}" presName="spacer" presStyleCnt="0"/>
      <dgm:spPr/>
    </dgm:pt>
    <dgm:pt modelId="{6876158D-BCF6-4446-A31F-4156D9C8C9C3}" type="pres">
      <dgm:prSet presAssocID="{CF4D2C25-D0EE-48D3-B62C-6B449AEAE412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0C633A65-7FE0-499C-957A-752AA819339B}" type="pres">
      <dgm:prSet presAssocID="{688D19AB-AEB6-445B-B65C-E548DFF23819}" presName="spacer" presStyleCnt="0"/>
      <dgm:spPr/>
    </dgm:pt>
    <dgm:pt modelId="{721FCE5E-C01D-4DFD-B195-BF753983C131}" type="pres">
      <dgm:prSet presAssocID="{8099C7E4-DAC9-430E-A7D8-BCB0513C9AA0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2C45CC03-1D16-4371-904B-8F8AED71CDCE}" type="pres">
      <dgm:prSet presAssocID="{3F564540-C1FD-4B0D-B541-5A201CEDA403}" presName="spacer" presStyleCnt="0"/>
      <dgm:spPr/>
    </dgm:pt>
    <dgm:pt modelId="{1D36A92F-2884-42CF-8EF9-C3F432898C75}" type="pres">
      <dgm:prSet presAssocID="{683924CE-83F9-4D92-922D-D25D6FAA73F1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A90B8990-E2C1-4F01-B360-A8D8B69AC775}" type="pres">
      <dgm:prSet presAssocID="{CF74EFF2-CF59-43AA-B365-31A459AA4B2D}" presName="spacer" presStyleCnt="0"/>
      <dgm:spPr/>
    </dgm:pt>
    <dgm:pt modelId="{B77704EA-F520-49AA-9C91-9BB7AF8ADE26}" type="pres">
      <dgm:prSet presAssocID="{CFA75E0C-BB14-4228-A7C5-845C3456D489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0120A5D7-9A99-4A2F-9B01-EA6E58FDA884}" type="pres">
      <dgm:prSet presAssocID="{AC0B46F9-C255-4F19-B702-89D902DDFAC5}" presName="spacer" presStyleCnt="0"/>
      <dgm:spPr/>
    </dgm:pt>
    <dgm:pt modelId="{9EC2AA29-03B5-4B8C-AB98-829197C0BB64}" type="pres">
      <dgm:prSet presAssocID="{1DC0D9B7-F72E-4880-89DA-91165B5A6D83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2EF94C10-0A23-4DF4-8987-0C5900B8049C}" type="presOf" srcId="{1DC0D9B7-F72E-4880-89DA-91165B5A6D83}" destId="{9EC2AA29-03B5-4B8C-AB98-829197C0BB64}" srcOrd="0" destOrd="0" presId="urn:microsoft.com/office/officeart/2005/8/layout/vList2"/>
    <dgm:cxn modelId="{E685441F-044A-4148-863F-6B7008ABE714}" type="presOf" srcId="{2B66F1C1-2BF6-46E3-BAB2-0D34D8D27EC0}" destId="{605C5128-5B2A-4ED0-81D6-13EB506E72E9}" srcOrd="0" destOrd="0" presId="urn:microsoft.com/office/officeart/2005/8/layout/vList2"/>
    <dgm:cxn modelId="{27EED122-CB75-48F8-A5EF-CD73A20D7C15}" srcId="{FE23051D-C214-457B-AC35-65555307A81F}" destId="{683924CE-83F9-4D92-922D-D25D6FAA73F1}" srcOrd="3" destOrd="0" parTransId="{264B4472-E497-48E0-BDEF-B12672C761DB}" sibTransId="{CF74EFF2-CF59-43AA-B365-31A459AA4B2D}"/>
    <dgm:cxn modelId="{876BA128-B1DD-470B-AA94-8DE6FB73E028}" srcId="{FE23051D-C214-457B-AC35-65555307A81F}" destId="{CFA75E0C-BB14-4228-A7C5-845C3456D489}" srcOrd="4" destOrd="0" parTransId="{EC9505A5-28F2-4CBB-9492-1349FE465B2C}" sibTransId="{AC0B46F9-C255-4F19-B702-89D902DDFAC5}"/>
    <dgm:cxn modelId="{89172C2A-A0C9-4246-A17B-BC768179B446}" type="presOf" srcId="{CFA75E0C-BB14-4228-A7C5-845C3456D489}" destId="{B77704EA-F520-49AA-9C91-9BB7AF8ADE26}" srcOrd="0" destOrd="0" presId="urn:microsoft.com/office/officeart/2005/8/layout/vList2"/>
    <dgm:cxn modelId="{FCF60B32-2234-41A1-993B-5D663A50E135}" srcId="{FE23051D-C214-457B-AC35-65555307A81F}" destId="{CF4D2C25-D0EE-48D3-B62C-6B449AEAE412}" srcOrd="1" destOrd="0" parTransId="{83C8E078-B627-4ED3-B719-14A957C63F9A}" sibTransId="{688D19AB-AEB6-445B-B65C-E548DFF23819}"/>
    <dgm:cxn modelId="{56F04738-4612-4ADA-ADF0-FF1C57576BCE}" srcId="{FE23051D-C214-457B-AC35-65555307A81F}" destId="{2B66F1C1-2BF6-46E3-BAB2-0D34D8D27EC0}" srcOrd="0" destOrd="0" parTransId="{7D24EDBF-245C-47F6-8AAE-C7C5155144E7}" sibTransId="{9DFD1C9E-69D5-4874-9224-025D31284FA5}"/>
    <dgm:cxn modelId="{7EDCF061-9F4F-4E95-8894-24156A35A35D}" type="presOf" srcId="{CF4D2C25-D0EE-48D3-B62C-6B449AEAE412}" destId="{6876158D-BCF6-4446-A31F-4156D9C8C9C3}" srcOrd="0" destOrd="0" presId="urn:microsoft.com/office/officeart/2005/8/layout/vList2"/>
    <dgm:cxn modelId="{E03D4756-DFF4-4E0A-A0DF-21FD052A8A09}" type="presOf" srcId="{8099C7E4-DAC9-430E-A7D8-BCB0513C9AA0}" destId="{721FCE5E-C01D-4DFD-B195-BF753983C131}" srcOrd="0" destOrd="0" presId="urn:microsoft.com/office/officeart/2005/8/layout/vList2"/>
    <dgm:cxn modelId="{00A26BCB-29C6-4114-A1CC-35B94E6217D9}" type="presOf" srcId="{683924CE-83F9-4D92-922D-D25D6FAA73F1}" destId="{1D36A92F-2884-42CF-8EF9-C3F432898C75}" srcOrd="0" destOrd="0" presId="urn:microsoft.com/office/officeart/2005/8/layout/vList2"/>
    <dgm:cxn modelId="{BD6263E3-13B4-4139-8536-0E890EA3DD56}" srcId="{FE23051D-C214-457B-AC35-65555307A81F}" destId="{8099C7E4-DAC9-430E-A7D8-BCB0513C9AA0}" srcOrd="2" destOrd="0" parTransId="{3A33199E-7187-493B-A50C-3E2770B9F603}" sibTransId="{3F564540-C1FD-4B0D-B541-5A201CEDA403}"/>
    <dgm:cxn modelId="{C2DE3BEA-1ED3-465B-84E3-30C1BDE0B8E3}" type="presOf" srcId="{FE23051D-C214-457B-AC35-65555307A81F}" destId="{5355ADEB-C43A-4FD6-8A2C-AA0E89B589A8}" srcOrd="0" destOrd="0" presId="urn:microsoft.com/office/officeart/2005/8/layout/vList2"/>
    <dgm:cxn modelId="{3EBB79EA-8BF1-4AA3-8D23-3ABE13F84A27}" srcId="{FE23051D-C214-457B-AC35-65555307A81F}" destId="{1DC0D9B7-F72E-4880-89DA-91165B5A6D83}" srcOrd="5" destOrd="0" parTransId="{0F22F289-0118-4EA9-B801-3075F22EA646}" sibTransId="{8E8BE655-C01E-4218-8328-96DF5BFD3EC2}"/>
    <dgm:cxn modelId="{7357907D-7552-4041-B68C-E5697FECADC6}" type="presParOf" srcId="{5355ADEB-C43A-4FD6-8A2C-AA0E89B589A8}" destId="{605C5128-5B2A-4ED0-81D6-13EB506E72E9}" srcOrd="0" destOrd="0" presId="urn:microsoft.com/office/officeart/2005/8/layout/vList2"/>
    <dgm:cxn modelId="{4FB16E28-6935-4685-9CE9-7869AE9FEF98}" type="presParOf" srcId="{5355ADEB-C43A-4FD6-8A2C-AA0E89B589A8}" destId="{43EFF129-DE92-45D4-84D4-2CFE7798D4BD}" srcOrd="1" destOrd="0" presId="urn:microsoft.com/office/officeart/2005/8/layout/vList2"/>
    <dgm:cxn modelId="{B3625029-D239-4438-B13B-C78720DB9DDC}" type="presParOf" srcId="{5355ADEB-C43A-4FD6-8A2C-AA0E89B589A8}" destId="{6876158D-BCF6-4446-A31F-4156D9C8C9C3}" srcOrd="2" destOrd="0" presId="urn:microsoft.com/office/officeart/2005/8/layout/vList2"/>
    <dgm:cxn modelId="{66F9F587-A11E-4DDD-B693-F22977756323}" type="presParOf" srcId="{5355ADEB-C43A-4FD6-8A2C-AA0E89B589A8}" destId="{0C633A65-7FE0-499C-957A-752AA819339B}" srcOrd="3" destOrd="0" presId="urn:microsoft.com/office/officeart/2005/8/layout/vList2"/>
    <dgm:cxn modelId="{7552431E-601D-43F5-9E92-A07604F126C6}" type="presParOf" srcId="{5355ADEB-C43A-4FD6-8A2C-AA0E89B589A8}" destId="{721FCE5E-C01D-4DFD-B195-BF753983C131}" srcOrd="4" destOrd="0" presId="urn:microsoft.com/office/officeart/2005/8/layout/vList2"/>
    <dgm:cxn modelId="{E1BBE1D4-CFDC-46E4-A5D4-EF9FAC8CDBD0}" type="presParOf" srcId="{5355ADEB-C43A-4FD6-8A2C-AA0E89B589A8}" destId="{2C45CC03-1D16-4371-904B-8F8AED71CDCE}" srcOrd="5" destOrd="0" presId="urn:microsoft.com/office/officeart/2005/8/layout/vList2"/>
    <dgm:cxn modelId="{B2C1F752-6539-436F-BF09-A102B26E276E}" type="presParOf" srcId="{5355ADEB-C43A-4FD6-8A2C-AA0E89B589A8}" destId="{1D36A92F-2884-42CF-8EF9-C3F432898C75}" srcOrd="6" destOrd="0" presId="urn:microsoft.com/office/officeart/2005/8/layout/vList2"/>
    <dgm:cxn modelId="{B8DE9F73-552F-4105-8B1C-F7BCD300B014}" type="presParOf" srcId="{5355ADEB-C43A-4FD6-8A2C-AA0E89B589A8}" destId="{A90B8990-E2C1-4F01-B360-A8D8B69AC775}" srcOrd="7" destOrd="0" presId="urn:microsoft.com/office/officeart/2005/8/layout/vList2"/>
    <dgm:cxn modelId="{E29141F4-C17B-4029-AD5C-584F3BCA1085}" type="presParOf" srcId="{5355ADEB-C43A-4FD6-8A2C-AA0E89B589A8}" destId="{B77704EA-F520-49AA-9C91-9BB7AF8ADE26}" srcOrd="8" destOrd="0" presId="urn:microsoft.com/office/officeart/2005/8/layout/vList2"/>
    <dgm:cxn modelId="{BD31E142-DE23-467B-B2C8-CA62A7B7AD34}" type="presParOf" srcId="{5355ADEB-C43A-4FD6-8A2C-AA0E89B589A8}" destId="{0120A5D7-9A99-4A2F-9B01-EA6E58FDA884}" srcOrd="9" destOrd="0" presId="urn:microsoft.com/office/officeart/2005/8/layout/vList2"/>
    <dgm:cxn modelId="{AB346346-FE11-4587-A24F-25466146EB05}" type="presParOf" srcId="{5355ADEB-C43A-4FD6-8A2C-AA0E89B589A8}" destId="{9EC2AA29-03B5-4B8C-AB98-829197C0BB64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6116EB36-E6C0-4937-AA71-62ADDD06FDA4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9FA31558-6FA7-4BAB-B883-885DAA26CCF0}">
      <dgm:prSet custT="1"/>
      <dgm:spPr/>
      <dgm:t>
        <a:bodyPr/>
        <a:lstStyle/>
        <a:p>
          <a:r>
            <a:rPr lang="en-US" sz="2400" b="1"/>
            <a:t>Key Findings</a:t>
          </a:r>
          <a:endParaRPr lang="en-US" sz="2400"/>
        </a:p>
      </dgm:t>
    </dgm:pt>
    <dgm:pt modelId="{B5101559-6C83-4571-B668-41A6B285BB5F}" type="parTrans" cxnId="{18EABAC6-2072-4964-8888-2FC724B2E05E}">
      <dgm:prSet/>
      <dgm:spPr/>
      <dgm:t>
        <a:bodyPr/>
        <a:lstStyle/>
        <a:p>
          <a:endParaRPr lang="en-US"/>
        </a:p>
      </dgm:t>
    </dgm:pt>
    <dgm:pt modelId="{ACD4CA3F-468F-499F-B83C-76CF3F51F6D0}" type="sibTrans" cxnId="{18EABAC6-2072-4964-8888-2FC724B2E05E}">
      <dgm:prSet/>
      <dgm:spPr/>
      <dgm:t>
        <a:bodyPr/>
        <a:lstStyle/>
        <a:p>
          <a:endParaRPr lang="en-US"/>
        </a:p>
      </dgm:t>
    </dgm:pt>
    <dgm:pt modelId="{F6CC9A49-EE84-4977-A39A-A5F5ED5989C0}">
      <dgm:prSet/>
      <dgm:spPr/>
      <dgm:t>
        <a:bodyPr/>
        <a:lstStyle/>
        <a:p>
          <a:r>
            <a:rPr lang="en-US"/>
            <a:t>Nearest Neighbor was the fastest algorithm. </a:t>
          </a:r>
        </a:p>
      </dgm:t>
    </dgm:pt>
    <dgm:pt modelId="{FCE800C9-5E42-4F28-9296-9D03FE0E2582}" type="parTrans" cxnId="{9D667EAF-94F9-4EBB-9D9D-6296201B58BE}">
      <dgm:prSet/>
      <dgm:spPr/>
      <dgm:t>
        <a:bodyPr/>
        <a:lstStyle/>
        <a:p>
          <a:endParaRPr lang="en-US"/>
        </a:p>
      </dgm:t>
    </dgm:pt>
    <dgm:pt modelId="{785E11A7-3691-4355-BFA1-A54F6C24834A}" type="sibTrans" cxnId="{9D667EAF-94F9-4EBB-9D9D-6296201B58BE}">
      <dgm:prSet/>
      <dgm:spPr/>
      <dgm:t>
        <a:bodyPr/>
        <a:lstStyle/>
        <a:p>
          <a:endParaRPr lang="en-US"/>
        </a:p>
      </dgm:t>
    </dgm:pt>
    <dgm:pt modelId="{D8522346-B2E5-4306-80D7-88AE5606D4C7}">
      <dgm:prSet/>
      <dgm:spPr/>
      <dgm:t>
        <a:bodyPr/>
        <a:lstStyle/>
        <a:p>
          <a:pPr rtl="0"/>
          <a:r>
            <a:rPr lang="en-US"/>
            <a:t>Clarke-Wright offered the best quality-to-runtime trade-off</a:t>
          </a:r>
          <a:r>
            <a:rPr lang="en-US">
              <a:latin typeface="Aptos Display" panose="02110004020202020204"/>
            </a:rPr>
            <a:t>.</a:t>
          </a:r>
          <a:endParaRPr lang="en-US"/>
        </a:p>
      </dgm:t>
    </dgm:pt>
    <dgm:pt modelId="{28A75AAE-0523-48DA-B7FB-EEBAB58FA424}" type="parTrans" cxnId="{C9D493B8-CFAA-49B2-8EF2-0270195B5847}">
      <dgm:prSet/>
      <dgm:spPr/>
      <dgm:t>
        <a:bodyPr/>
        <a:lstStyle/>
        <a:p>
          <a:endParaRPr lang="en-US"/>
        </a:p>
      </dgm:t>
    </dgm:pt>
    <dgm:pt modelId="{70663857-E00A-4E37-967B-91273D4A08C5}" type="sibTrans" cxnId="{C9D493B8-CFAA-49B2-8EF2-0270195B5847}">
      <dgm:prSet/>
      <dgm:spPr/>
      <dgm:t>
        <a:bodyPr/>
        <a:lstStyle/>
        <a:p>
          <a:endParaRPr lang="en-US"/>
        </a:p>
      </dgm:t>
    </dgm:pt>
    <dgm:pt modelId="{9BF55AB8-4C3C-4B54-836F-7BC2479E140E}">
      <dgm:prSet/>
      <dgm:spPr/>
      <dgm:t>
        <a:bodyPr/>
        <a:lstStyle/>
        <a:p>
          <a:r>
            <a:rPr lang="en-US"/>
            <a:t>Harmony Search required the most computation and showed sensitivity to implementation choices. </a:t>
          </a:r>
        </a:p>
      </dgm:t>
    </dgm:pt>
    <dgm:pt modelId="{6A9B1FD4-1DA1-4B41-B55B-8B21C15E7FF0}" type="parTrans" cxnId="{9F6D22C2-B712-4101-A723-25557B902CB8}">
      <dgm:prSet/>
      <dgm:spPr/>
      <dgm:t>
        <a:bodyPr/>
        <a:lstStyle/>
        <a:p>
          <a:endParaRPr lang="en-US"/>
        </a:p>
      </dgm:t>
    </dgm:pt>
    <dgm:pt modelId="{0B6868A1-39E1-47CB-BE23-A388533015B6}" type="sibTrans" cxnId="{9F6D22C2-B712-4101-A723-25557B902CB8}">
      <dgm:prSet/>
      <dgm:spPr/>
      <dgm:t>
        <a:bodyPr/>
        <a:lstStyle/>
        <a:p>
          <a:endParaRPr lang="en-US"/>
        </a:p>
      </dgm:t>
    </dgm:pt>
    <dgm:pt modelId="{EC2D54DC-FD8A-42FA-92DD-72907B4603AA}">
      <dgm:prSet custT="1"/>
      <dgm:spPr/>
      <dgm:t>
        <a:bodyPr/>
        <a:lstStyle/>
        <a:p>
          <a:r>
            <a:rPr lang="en-US" sz="2400" b="1"/>
            <a:t>Takeaway</a:t>
          </a:r>
          <a:endParaRPr lang="en-US" sz="2400"/>
        </a:p>
      </dgm:t>
    </dgm:pt>
    <dgm:pt modelId="{E9B7CB0B-A672-4842-82F5-D49B47FD6F1D}" type="parTrans" cxnId="{5344F789-CB01-4754-8E89-CECBE07092E2}">
      <dgm:prSet/>
      <dgm:spPr/>
      <dgm:t>
        <a:bodyPr/>
        <a:lstStyle/>
        <a:p>
          <a:endParaRPr lang="en-US"/>
        </a:p>
      </dgm:t>
    </dgm:pt>
    <dgm:pt modelId="{F966EB5A-1643-4FF1-A10D-363C7375BFCD}" type="sibTrans" cxnId="{5344F789-CB01-4754-8E89-CECBE07092E2}">
      <dgm:prSet/>
      <dgm:spPr/>
      <dgm:t>
        <a:bodyPr/>
        <a:lstStyle/>
        <a:p>
          <a:endParaRPr lang="en-US"/>
        </a:p>
      </dgm:t>
    </dgm:pt>
    <dgm:pt modelId="{B3658067-28E5-469E-A2ED-B79C492305ED}">
      <dgm:prSet/>
      <dgm:spPr/>
      <dgm:t>
        <a:bodyPr/>
        <a:lstStyle/>
        <a:p>
          <a:r>
            <a:rPr lang="en-US"/>
            <a:t>Classic heuristics can outperform sophisticated metaheuristics when the latter aren't carefully tuned, and algorithm choice matters more than problem size for solution quality.</a:t>
          </a:r>
        </a:p>
      </dgm:t>
    </dgm:pt>
    <dgm:pt modelId="{1B01BBD6-994A-40E7-A8B7-018D456B2007}" type="parTrans" cxnId="{AFEF78CD-C808-4261-9279-1DED8D83524E}">
      <dgm:prSet/>
      <dgm:spPr/>
      <dgm:t>
        <a:bodyPr/>
        <a:lstStyle/>
        <a:p>
          <a:endParaRPr lang="en-US"/>
        </a:p>
      </dgm:t>
    </dgm:pt>
    <dgm:pt modelId="{E2E55C3C-919E-49AE-BAA6-16AD2036C2C0}" type="sibTrans" cxnId="{AFEF78CD-C808-4261-9279-1DED8D83524E}">
      <dgm:prSet/>
      <dgm:spPr/>
      <dgm:t>
        <a:bodyPr/>
        <a:lstStyle/>
        <a:p>
          <a:endParaRPr lang="en-US"/>
        </a:p>
      </dgm:t>
    </dgm:pt>
    <dgm:pt modelId="{B2F245FC-5A38-4238-8C74-B3052A7E9037}" type="pres">
      <dgm:prSet presAssocID="{6116EB36-E6C0-4937-AA71-62ADDD06FDA4}" presName="vert0" presStyleCnt="0">
        <dgm:presLayoutVars>
          <dgm:dir/>
          <dgm:animOne val="branch"/>
          <dgm:animLvl val="lvl"/>
        </dgm:presLayoutVars>
      </dgm:prSet>
      <dgm:spPr/>
    </dgm:pt>
    <dgm:pt modelId="{CF0D106B-E00F-44F0-8C0B-78FA9C249EB7}" type="pres">
      <dgm:prSet presAssocID="{9FA31558-6FA7-4BAB-B883-885DAA26CCF0}" presName="thickLine" presStyleLbl="alignNode1" presStyleIdx="0" presStyleCnt="6"/>
      <dgm:spPr/>
    </dgm:pt>
    <dgm:pt modelId="{8E4599E3-4BE9-4687-AFD5-40A913711511}" type="pres">
      <dgm:prSet presAssocID="{9FA31558-6FA7-4BAB-B883-885DAA26CCF0}" presName="horz1" presStyleCnt="0"/>
      <dgm:spPr/>
    </dgm:pt>
    <dgm:pt modelId="{9BC41366-4B46-4027-BC0A-AD64968AD251}" type="pres">
      <dgm:prSet presAssocID="{9FA31558-6FA7-4BAB-B883-885DAA26CCF0}" presName="tx1" presStyleLbl="revTx" presStyleIdx="0" presStyleCnt="6"/>
      <dgm:spPr/>
    </dgm:pt>
    <dgm:pt modelId="{5B826795-7380-4E32-93CA-BDBFCA3BE1D8}" type="pres">
      <dgm:prSet presAssocID="{9FA31558-6FA7-4BAB-B883-885DAA26CCF0}" presName="vert1" presStyleCnt="0"/>
      <dgm:spPr/>
    </dgm:pt>
    <dgm:pt modelId="{EBCB624A-FB93-4E92-8BA5-75A549167C0F}" type="pres">
      <dgm:prSet presAssocID="{F6CC9A49-EE84-4977-A39A-A5F5ED5989C0}" presName="thickLine" presStyleLbl="alignNode1" presStyleIdx="1" presStyleCnt="6"/>
      <dgm:spPr/>
    </dgm:pt>
    <dgm:pt modelId="{1C44812D-37DA-4A64-8A80-B6F592B7478F}" type="pres">
      <dgm:prSet presAssocID="{F6CC9A49-EE84-4977-A39A-A5F5ED5989C0}" presName="horz1" presStyleCnt="0"/>
      <dgm:spPr/>
    </dgm:pt>
    <dgm:pt modelId="{48FCE26E-5C10-4578-8056-6C0439876D29}" type="pres">
      <dgm:prSet presAssocID="{F6CC9A49-EE84-4977-A39A-A5F5ED5989C0}" presName="tx1" presStyleLbl="revTx" presStyleIdx="1" presStyleCnt="6"/>
      <dgm:spPr/>
    </dgm:pt>
    <dgm:pt modelId="{E75E922D-E7BD-48AB-BF9D-8DA774854CB0}" type="pres">
      <dgm:prSet presAssocID="{F6CC9A49-EE84-4977-A39A-A5F5ED5989C0}" presName="vert1" presStyleCnt="0"/>
      <dgm:spPr/>
    </dgm:pt>
    <dgm:pt modelId="{2E46BBDE-404C-40CB-B5C4-EB512B1BABB1}" type="pres">
      <dgm:prSet presAssocID="{D8522346-B2E5-4306-80D7-88AE5606D4C7}" presName="thickLine" presStyleLbl="alignNode1" presStyleIdx="2" presStyleCnt="6"/>
      <dgm:spPr/>
    </dgm:pt>
    <dgm:pt modelId="{B82A983E-6BE2-432E-B408-5B2F0B88434A}" type="pres">
      <dgm:prSet presAssocID="{D8522346-B2E5-4306-80D7-88AE5606D4C7}" presName="horz1" presStyleCnt="0"/>
      <dgm:spPr/>
    </dgm:pt>
    <dgm:pt modelId="{BFC4E0D7-15F9-4A37-BEE9-875F173CFC5F}" type="pres">
      <dgm:prSet presAssocID="{D8522346-B2E5-4306-80D7-88AE5606D4C7}" presName="tx1" presStyleLbl="revTx" presStyleIdx="2" presStyleCnt="6"/>
      <dgm:spPr/>
    </dgm:pt>
    <dgm:pt modelId="{4AA7886D-38F0-4193-893B-BFF7E4627FDB}" type="pres">
      <dgm:prSet presAssocID="{D8522346-B2E5-4306-80D7-88AE5606D4C7}" presName="vert1" presStyleCnt="0"/>
      <dgm:spPr/>
    </dgm:pt>
    <dgm:pt modelId="{149A1302-D9AE-45F0-9C4A-D3886D9C7C13}" type="pres">
      <dgm:prSet presAssocID="{9BF55AB8-4C3C-4B54-836F-7BC2479E140E}" presName="thickLine" presStyleLbl="alignNode1" presStyleIdx="3" presStyleCnt="6"/>
      <dgm:spPr/>
    </dgm:pt>
    <dgm:pt modelId="{916DFEF3-FF8E-48CC-BA19-C8A51D4A4A14}" type="pres">
      <dgm:prSet presAssocID="{9BF55AB8-4C3C-4B54-836F-7BC2479E140E}" presName="horz1" presStyleCnt="0"/>
      <dgm:spPr/>
    </dgm:pt>
    <dgm:pt modelId="{37EA9C17-A507-4207-B835-66694BF60024}" type="pres">
      <dgm:prSet presAssocID="{9BF55AB8-4C3C-4B54-836F-7BC2479E140E}" presName="tx1" presStyleLbl="revTx" presStyleIdx="3" presStyleCnt="6"/>
      <dgm:spPr/>
    </dgm:pt>
    <dgm:pt modelId="{20B77BE3-348E-420B-B2A5-E13FB113FC69}" type="pres">
      <dgm:prSet presAssocID="{9BF55AB8-4C3C-4B54-836F-7BC2479E140E}" presName="vert1" presStyleCnt="0"/>
      <dgm:spPr/>
    </dgm:pt>
    <dgm:pt modelId="{A3921CF1-C84D-4660-A4C3-C807863103B0}" type="pres">
      <dgm:prSet presAssocID="{EC2D54DC-FD8A-42FA-92DD-72907B4603AA}" presName="thickLine" presStyleLbl="alignNode1" presStyleIdx="4" presStyleCnt="6"/>
      <dgm:spPr/>
    </dgm:pt>
    <dgm:pt modelId="{C8B645A5-5A95-433E-98E3-43D67CC8472E}" type="pres">
      <dgm:prSet presAssocID="{EC2D54DC-FD8A-42FA-92DD-72907B4603AA}" presName="horz1" presStyleCnt="0"/>
      <dgm:spPr/>
    </dgm:pt>
    <dgm:pt modelId="{A1326F8F-0286-43E0-93DB-86E8718B6833}" type="pres">
      <dgm:prSet presAssocID="{EC2D54DC-FD8A-42FA-92DD-72907B4603AA}" presName="tx1" presStyleLbl="revTx" presStyleIdx="4" presStyleCnt="6"/>
      <dgm:spPr/>
    </dgm:pt>
    <dgm:pt modelId="{91CD7083-D608-4C31-9C39-EE7D2A6B21BB}" type="pres">
      <dgm:prSet presAssocID="{EC2D54DC-FD8A-42FA-92DD-72907B4603AA}" presName="vert1" presStyleCnt="0"/>
      <dgm:spPr/>
    </dgm:pt>
    <dgm:pt modelId="{712B9346-0953-4619-8FFF-EE8DA082055B}" type="pres">
      <dgm:prSet presAssocID="{B3658067-28E5-469E-A2ED-B79C492305ED}" presName="thickLine" presStyleLbl="alignNode1" presStyleIdx="5" presStyleCnt="6"/>
      <dgm:spPr/>
    </dgm:pt>
    <dgm:pt modelId="{1D6EAC63-C440-4083-9BD4-FF97B2E5DE43}" type="pres">
      <dgm:prSet presAssocID="{B3658067-28E5-469E-A2ED-B79C492305ED}" presName="horz1" presStyleCnt="0"/>
      <dgm:spPr/>
    </dgm:pt>
    <dgm:pt modelId="{20724D1D-8CD2-4EFA-9A1D-FDDBEE9E0D18}" type="pres">
      <dgm:prSet presAssocID="{B3658067-28E5-469E-A2ED-B79C492305ED}" presName="tx1" presStyleLbl="revTx" presStyleIdx="5" presStyleCnt="6"/>
      <dgm:spPr/>
    </dgm:pt>
    <dgm:pt modelId="{69A54F92-7141-4317-AC9F-9556E090F6DC}" type="pres">
      <dgm:prSet presAssocID="{B3658067-28E5-469E-A2ED-B79C492305ED}" presName="vert1" presStyleCnt="0"/>
      <dgm:spPr/>
    </dgm:pt>
  </dgm:ptLst>
  <dgm:cxnLst>
    <dgm:cxn modelId="{D030F53C-FDB8-4CCB-97C6-7C212BDDC57B}" type="presOf" srcId="{9BF55AB8-4C3C-4B54-836F-7BC2479E140E}" destId="{37EA9C17-A507-4207-B835-66694BF60024}" srcOrd="0" destOrd="0" presId="urn:microsoft.com/office/officeart/2008/layout/LinedList"/>
    <dgm:cxn modelId="{069DD185-98DE-49AA-976C-BD1571D6EA0B}" type="presOf" srcId="{D8522346-B2E5-4306-80D7-88AE5606D4C7}" destId="{BFC4E0D7-15F9-4A37-BEE9-875F173CFC5F}" srcOrd="0" destOrd="0" presId="urn:microsoft.com/office/officeart/2008/layout/LinedList"/>
    <dgm:cxn modelId="{5344F789-CB01-4754-8E89-CECBE07092E2}" srcId="{6116EB36-E6C0-4937-AA71-62ADDD06FDA4}" destId="{EC2D54DC-FD8A-42FA-92DD-72907B4603AA}" srcOrd="4" destOrd="0" parTransId="{E9B7CB0B-A672-4842-82F5-D49B47FD6F1D}" sibTransId="{F966EB5A-1643-4FF1-A10D-363C7375BFCD}"/>
    <dgm:cxn modelId="{0EC77AA3-2036-4E98-87DB-38C90F3EC588}" type="presOf" srcId="{B3658067-28E5-469E-A2ED-B79C492305ED}" destId="{20724D1D-8CD2-4EFA-9A1D-FDDBEE9E0D18}" srcOrd="0" destOrd="0" presId="urn:microsoft.com/office/officeart/2008/layout/LinedList"/>
    <dgm:cxn modelId="{9D667EAF-94F9-4EBB-9D9D-6296201B58BE}" srcId="{6116EB36-E6C0-4937-AA71-62ADDD06FDA4}" destId="{F6CC9A49-EE84-4977-A39A-A5F5ED5989C0}" srcOrd="1" destOrd="0" parTransId="{FCE800C9-5E42-4F28-9296-9D03FE0E2582}" sibTransId="{785E11A7-3691-4355-BFA1-A54F6C24834A}"/>
    <dgm:cxn modelId="{C9D493B8-CFAA-49B2-8EF2-0270195B5847}" srcId="{6116EB36-E6C0-4937-AA71-62ADDD06FDA4}" destId="{D8522346-B2E5-4306-80D7-88AE5606D4C7}" srcOrd="2" destOrd="0" parTransId="{28A75AAE-0523-48DA-B7FB-EEBAB58FA424}" sibTransId="{70663857-E00A-4E37-967B-91273D4A08C5}"/>
    <dgm:cxn modelId="{ECA04FC1-5B8E-4691-BF2E-76A1BF07EC7B}" type="presOf" srcId="{F6CC9A49-EE84-4977-A39A-A5F5ED5989C0}" destId="{48FCE26E-5C10-4578-8056-6C0439876D29}" srcOrd="0" destOrd="0" presId="urn:microsoft.com/office/officeart/2008/layout/LinedList"/>
    <dgm:cxn modelId="{9F6D22C2-B712-4101-A723-25557B902CB8}" srcId="{6116EB36-E6C0-4937-AA71-62ADDD06FDA4}" destId="{9BF55AB8-4C3C-4B54-836F-7BC2479E140E}" srcOrd="3" destOrd="0" parTransId="{6A9B1FD4-1DA1-4B41-B55B-8B21C15E7FF0}" sibTransId="{0B6868A1-39E1-47CB-BE23-A388533015B6}"/>
    <dgm:cxn modelId="{18EABAC6-2072-4964-8888-2FC724B2E05E}" srcId="{6116EB36-E6C0-4937-AA71-62ADDD06FDA4}" destId="{9FA31558-6FA7-4BAB-B883-885DAA26CCF0}" srcOrd="0" destOrd="0" parTransId="{B5101559-6C83-4571-B668-41A6B285BB5F}" sibTransId="{ACD4CA3F-468F-499F-B83C-76CF3F51F6D0}"/>
    <dgm:cxn modelId="{AFEF78CD-C808-4261-9279-1DED8D83524E}" srcId="{6116EB36-E6C0-4937-AA71-62ADDD06FDA4}" destId="{B3658067-28E5-469E-A2ED-B79C492305ED}" srcOrd="5" destOrd="0" parTransId="{1B01BBD6-994A-40E7-A8B7-018D456B2007}" sibTransId="{E2E55C3C-919E-49AE-BAA6-16AD2036C2C0}"/>
    <dgm:cxn modelId="{FCEF66D2-DBBC-44D7-A97E-A9862A8129AB}" type="presOf" srcId="{6116EB36-E6C0-4937-AA71-62ADDD06FDA4}" destId="{B2F245FC-5A38-4238-8C74-B3052A7E9037}" srcOrd="0" destOrd="0" presId="urn:microsoft.com/office/officeart/2008/layout/LinedList"/>
    <dgm:cxn modelId="{C99848F0-CD3D-48E1-A69F-A15A3466E7EC}" type="presOf" srcId="{EC2D54DC-FD8A-42FA-92DD-72907B4603AA}" destId="{A1326F8F-0286-43E0-93DB-86E8718B6833}" srcOrd="0" destOrd="0" presId="urn:microsoft.com/office/officeart/2008/layout/LinedList"/>
    <dgm:cxn modelId="{98CD72F5-4BCA-4982-938D-7BF2D1D8AD59}" type="presOf" srcId="{9FA31558-6FA7-4BAB-B883-885DAA26CCF0}" destId="{9BC41366-4B46-4027-BC0A-AD64968AD251}" srcOrd="0" destOrd="0" presId="urn:microsoft.com/office/officeart/2008/layout/LinedList"/>
    <dgm:cxn modelId="{B0D4D533-884D-4D54-A4B8-46F7B5DD8C37}" type="presParOf" srcId="{B2F245FC-5A38-4238-8C74-B3052A7E9037}" destId="{CF0D106B-E00F-44F0-8C0B-78FA9C249EB7}" srcOrd="0" destOrd="0" presId="urn:microsoft.com/office/officeart/2008/layout/LinedList"/>
    <dgm:cxn modelId="{4D11426D-BCD9-42D0-ABDB-0E71F3344133}" type="presParOf" srcId="{B2F245FC-5A38-4238-8C74-B3052A7E9037}" destId="{8E4599E3-4BE9-4687-AFD5-40A913711511}" srcOrd="1" destOrd="0" presId="urn:microsoft.com/office/officeart/2008/layout/LinedList"/>
    <dgm:cxn modelId="{8A374EC9-FC8E-4936-A981-AD0EA149A952}" type="presParOf" srcId="{8E4599E3-4BE9-4687-AFD5-40A913711511}" destId="{9BC41366-4B46-4027-BC0A-AD64968AD251}" srcOrd="0" destOrd="0" presId="urn:microsoft.com/office/officeart/2008/layout/LinedList"/>
    <dgm:cxn modelId="{04ED661D-763A-4B09-B61B-570F48B19ADA}" type="presParOf" srcId="{8E4599E3-4BE9-4687-AFD5-40A913711511}" destId="{5B826795-7380-4E32-93CA-BDBFCA3BE1D8}" srcOrd="1" destOrd="0" presId="urn:microsoft.com/office/officeart/2008/layout/LinedList"/>
    <dgm:cxn modelId="{95F227FF-3FB5-44EA-A040-A359AE4D04E6}" type="presParOf" srcId="{B2F245FC-5A38-4238-8C74-B3052A7E9037}" destId="{EBCB624A-FB93-4E92-8BA5-75A549167C0F}" srcOrd="2" destOrd="0" presId="urn:microsoft.com/office/officeart/2008/layout/LinedList"/>
    <dgm:cxn modelId="{EA986B56-B3DF-47E9-BDFA-923399EEC2A5}" type="presParOf" srcId="{B2F245FC-5A38-4238-8C74-B3052A7E9037}" destId="{1C44812D-37DA-4A64-8A80-B6F592B7478F}" srcOrd="3" destOrd="0" presId="urn:microsoft.com/office/officeart/2008/layout/LinedList"/>
    <dgm:cxn modelId="{46B665CF-A087-4B41-87F6-27FAF9D2AB41}" type="presParOf" srcId="{1C44812D-37DA-4A64-8A80-B6F592B7478F}" destId="{48FCE26E-5C10-4578-8056-6C0439876D29}" srcOrd="0" destOrd="0" presId="urn:microsoft.com/office/officeart/2008/layout/LinedList"/>
    <dgm:cxn modelId="{A9BBCB34-691B-4BF2-8256-30FD20610595}" type="presParOf" srcId="{1C44812D-37DA-4A64-8A80-B6F592B7478F}" destId="{E75E922D-E7BD-48AB-BF9D-8DA774854CB0}" srcOrd="1" destOrd="0" presId="urn:microsoft.com/office/officeart/2008/layout/LinedList"/>
    <dgm:cxn modelId="{06626007-98E6-4B0D-A476-1B5DB9D664D1}" type="presParOf" srcId="{B2F245FC-5A38-4238-8C74-B3052A7E9037}" destId="{2E46BBDE-404C-40CB-B5C4-EB512B1BABB1}" srcOrd="4" destOrd="0" presId="urn:microsoft.com/office/officeart/2008/layout/LinedList"/>
    <dgm:cxn modelId="{44CAF92E-D3FF-47BA-9CFC-815C7CC97771}" type="presParOf" srcId="{B2F245FC-5A38-4238-8C74-B3052A7E9037}" destId="{B82A983E-6BE2-432E-B408-5B2F0B88434A}" srcOrd="5" destOrd="0" presId="urn:microsoft.com/office/officeart/2008/layout/LinedList"/>
    <dgm:cxn modelId="{32CC18E9-78D9-4740-9B9A-D9911CB66235}" type="presParOf" srcId="{B82A983E-6BE2-432E-B408-5B2F0B88434A}" destId="{BFC4E0D7-15F9-4A37-BEE9-875F173CFC5F}" srcOrd="0" destOrd="0" presId="urn:microsoft.com/office/officeart/2008/layout/LinedList"/>
    <dgm:cxn modelId="{B4C0071C-4B59-4227-A2BE-BC15EB5F7F6F}" type="presParOf" srcId="{B82A983E-6BE2-432E-B408-5B2F0B88434A}" destId="{4AA7886D-38F0-4193-893B-BFF7E4627FDB}" srcOrd="1" destOrd="0" presId="urn:microsoft.com/office/officeart/2008/layout/LinedList"/>
    <dgm:cxn modelId="{33287EB8-F9DA-4302-AD80-EFBBF8B805B7}" type="presParOf" srcId="{B2F245FC-5A38-4238-8C74-B3052A7E9037}" destId="{149A1302-D9AE-45F0-9C4A-D3886D9C7C13}" srcOrd="6" destOrd="0" presId="urn:microsoft.com/office/officeart/2008/layout/LinedList"/>
    <dgm:cxn modelId="{54166816-0A2B-4397-8C5C-09E10AD68107}" type="presParOf" srcId="{B2F245FC-5A38-4238-8C74-B3052A7E9037}" destId="{916DFEF3-FF8E-48CC-BA19-C8A51D4A4A14}" srcOrd="7" destOrd="0" presId="urn:microsoft.com/office/officeart/2008/layout/LinedList"/>
    <dgm:cxn modelId="{282629F2-4CC2-4E4E-902C-CB5C220209EE}" type="presParOf" srcId="{916DFEF3-FF8E-48CC-BA19-C8A51D4A4A14}" destId="{37EA9C17-A507-4207-B835-66694BF60024}" srcOrd="0" destOrd="0" presId="urn:microsoft.com/office/officeart/2008/layout/LinedList"/>
    <dgm:cxn modelId="{A819BD8A-B9BB-48CD-A07C-A1DD049D090F}" type="presParOf" srcId="{916DFEF3-FF8E-48CC-BA19-C8A51D4A4A14}" destId="{20B77BE3-348E-420B-B2A5-E13FB113FC69}" srcOrd="1" destOrd="0" presId="urn:microsoft.com/office/officeart/2008/layout/LinedList"/>
    <dgm:cxn modelId="{ED5EA269-D8D5-4050-8CEB-2C3873C19BA6}" type="presParOf" srcId="{B2F245FC-5A38-4238-8C74-B3052A7E9037}" destId="{A3921CF1-C84D-4660-A4C3-C807863103B0}" srcOrd="8" destOrd="0" presId="urn:microsoft.com/office/officeart/2008/layout/LinedList"/>
    <dgm:cxn modelId="{B6C52B6C-5DBB-4729-82C9-7ABDD0A145A6}" type="presParOf" srcId="{B2F245FC-5A38-4238-8C74-B3052A7E9037}" destId="{C8B645A5-5A95-433E-98E3-43D67CC8472E}" srcOrd="9" destOrd="0" presId="urn:microsoft.com/office/officeart/2008/layout/LinedList"/>
    <dgm:cxn modelId="{D8A46D87-D010-48D7-8830-D7593F2AE1A8}" type="presParOf" srcId="{C8B645A5-5A95-433E-98E3-43D67CC8472E}" destId="{A1326F8F-0286-43E0-93DB-86E8718B6833}" srcOrd="0" destOrd="0" presId="urn:microsoft.com/office/officeart/2008/layout/LinedList"/>
    <dgm:cxn modelId="{B86BC504-D74F-4148-9049-DD4841F17C2E}" type="presParOf" srcId="{C8B645A5-5A95-433E-98E3-43D67CC8472E}" destId="{91CD7083-D608-4C31-9C39-EE7D2A6B21BB}" srcOrd="1" destOrd="0" presId="urn:microsoft.com/office/officeart/2008/layout/LinedList"/>
    <dgm:cxn modelId="{1FBD1E45-D45D-48D1-93B3-66918219530D}" type="presParOf" srcId="{B2F245FC-5A38-4238-8C74-B3052A7E9037}" destId="{712B9346-0953-4619-8FFF-EE8DA082055B}" srcOrd="10" destOrd="0" presId="urn:microsoft.com/office/officeart/2008/layout/LinedList"/>
    <dgm:cxn modelId="{CA5F6321-CCF9-4647-A772-970F2E02452E}" type="presParOf" srcId="{B2F245FC-5A38-4238-8C74-B3052A7E9037}" destId="{1D6EAC63-C440-4083-9BD4-FF97B2E5DE43}" srcOrd="11" destOrd="0" presId="urn:microsoft.com/office/officeart/2008/layout/LinedList"/>
    <dgm:cxn modelId="{08888887-2C05-4C4B-96DC-F99849C0C97A}" type="presParOf" srcId="{1D6EAC63-C440-4083-9BD4-FF97B2E5DE43}" destId="{20724D1D-8CD2-4EFA-9A1D-FDDBEE9E0D18}" srcOrd="0" destOrd="0" presId="urn:microsoft.com/office/officeart/2008/layout/LinedList"/>
    <dgm:cxn modelId="{D7DB0A6F-6EE1-4A2B-9A1D-4B957C1CE1BB}" type="presParOf" srcId="{1D6EAC63-C440-4083-9BD4-FF97B2E5DE43}" destId="{69A54F92-7141-4317-AC9F-9556E090F6D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B845857-9E29-41A3-BEA5-2BE7DC4D75AF}">
      <dsp:nvSpPr>
        <dsp:cNvPr id="0" name=""/>
        <dsp:cNvSpPr/>
      </dsp:nvSpPr>
      <dsp:spPr>
        <a:xfrm>
          <a:off x="819983" y="2124"/>
          <a:ext cx="2868885" cy="172133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Vehicle Routing Problem (VRP): optimize delivery routes for a fleet of vehicles. </a:t>
          </a:r>
        </a:p>
      </dsp:txBody>
      <dsp:txXfrm>
        <a:off x="819983" y="2124"/>
        <a:ext cx="2868885" cy="1721331"/>
      </dsp:txXfrm>
    </dsp:sp>
    <dsp:sp modelId="{FAB31C6B-CB36-4138-B223-3233B98D6847}">
      <dsp:nvSpPr>
        <dsp:cNvPr id="0" name=""/>
        <dsp:cNvSpPr/>
      </dsp:nvSpPr>
      <dsp:spPr>
        <a:xfrm>
          <a:off x="3975757" y="2124"/>
          <a:ext cx="2868885" cy="1721331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Focus: Capacitated Vehicle Routing Problem (CVRP). </a:t>
          </a:r>
        </a:p>
      </dsp:txBody>
      <dsp:txXfrm>
        <a:off x="3975757" y="2124"/>
        <a:ext cx="2868885" cy="1721331"/>
      </dsp:txXfrm>
    </dsp:sp>
    <dsp:sp modelId="{B15ED343-863F-4EB6-A9E8-8F51642686B5}">
      <dsp:nvSpPr>
        <dsp:cNvPr id="0" name=""/>
        <dsp:cNvSpPr/>
      </dsp:nvSpPr>
      <dsp:spPr>
        <a:xfrm>
          <a:off x="7131531" y="2124"/>
          <a:ext cx="2868885" cy="1721331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Vehicles have fixed capacity constraints.</a:t>
          </a:r>
        </a:p>
      </dsp:txBody>
      <dsp:txXfrm>
        <a:off x="7131531" y="2124"/>
        <a:ext cx="2868885" cy="1721331"/>
      </dsp:txXfrm>
    </dsp:sp>
    <dsp:sp modelId="{A19C0829-8948-4920-B2E8-E68F7330B4CD}">
      <dsp:nvSpPr>
        <dsp:cNvPr id="0" name=""/>
        <dsp:cNvSpPr/>
      </dsp:nvSpPr>
      <dsp:spPr>
        <a:xfrm>
          <a:off x="819983" y="2010343"/>
          <a:ext cx="2868885" cy="1721331"/>
        </a:xfrm>
        <a:prstGeom prst="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Goal: minimize total travel distance while satisfying all customer demand. </a:t>
          </a:r>
        </a:p>
      </dsp:txBody>
      <dsp:txXfrm>
        <a:off x="819983" y="2010343"/>
        <a:ext cx="2868885" cy="1721331"/>
      </dsp:txXfrm>
    </dsp:sp>
    <dsp:sp modelId="{4301DCD1-B360-4BBF-8E18-56E85C168A80}">
      <dsp:nvSpPr>
        <dsp:cNvPr id="0" name=""/>
        <dsp:cNvSpPr/>
      </dsp:nvSpPr>
      <dsp:spPr>
        <a:xfrm>
          <a:off x="3975757" y="2010343"/>
          <a:ext cx="2868885" cy="1721331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CVRP is NP-hard and closely related to the Traveling Salesman Problem. </a:t>
          </a:r>
        </a:p>
      </dsp:txBody>
      <dsp:txXfrm>
        <a:off x="3975757" y="2010343"/>
        <a:ext cx="2868885" cy="1721331"/>
      </dsp:txXfrm>
    </dsp:sp>
    <dsp:sp modelId="{B3AE106D-7423-4177-8D2E-D8969221E388}">
      <dsp:nvSpPr>
        <dsp:cNvPr id="0" name=""/>
        <dsp:cNvSpPr/>
      </dsp:nvSpPr>
      <dsp:spPr>
        <a:xfrm>
          <a:off x="7131531" y="2010343"/>
          <a:ext cx="2868885" cy="1721331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Heuristic methods provide practical solutions for large instances. </a:t>
          </a:r>
        </a:p>
      </dsp:txBody>
      <dsp:txXfrm>
        <a:off x="7131531" y="2010343"/>
        <a:ext cx="2868885" cy="172133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5C5128-5B2A-4ED0-81D6-13EB506E72E9}">
      <dsp:nvSpPr>
        <dsp:cNvPr id="0" name=""/>
        <dsp:cNvSpPr/>
      </dsp:nvSpPr>
      <dsp:spPr>
        <a:xfrm>
          <a:off x="0" y="17030"/>
          <a:ext cx="10515600" cy="678746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Observed runtime growth aligns with theoretical complexity. </a:t>
          </a:r>
        </a:p>
      </dsp:txBody>
      <dsp:txXfrm>
        <a:off x="33134" y="50164"/>
        <a:ext cx="10449332" cy="612478"/>
      </dsp:txXfrm>
    </dsp:sp>
    <dsp:sp modelId="{6876158D-BCF6-4446-A31F-4156D9C8C9C3}">
      <dsp:nvSpPr>
        <dsp:cNvPr id="0" name=""/>
        <dsp:cNvSpPr/>
      </dsp:nvSpPr>
      <dsp:spPr>
        <a:xfrm>
          <a:off x="0" y="744736"/>
          <a:ext cx="10515600" cy="678746"/>
        </a:xfrm>
        <a:prstGeom prst="roundRect">
          <a:avLst/>
        </a:prstGeom>
        <a:solidFill>
          <a:schemeClr val="accent2">
            <a:hueOff val="1288723"/>
            <a:satOff val="-3699"/>
            <a:lumOff val="-592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NN scales efficiently but sacrifices route quality. </a:t>
          </a:r>
        </a:p>
      </dsp:txBody>
      <dsp:txXfrm>
        <a:off x="33134" y="777870"/>
        <a:ext cx="10449332" cy="612478"/>
      </dsp:txXfrm>
    </dsp:sp>
    <dsp:sp modelId="{721FCE5E-C01D-4DFD-B195-BF753983C131}">
      <dsp:nvSpPr>
        <dsp:cNvPr id="0" name=""/>
        <dsp:cNvSpPr/>
      </dsp:nvSpPr>
      <dsp:spPr>
        <a:xfrm>
          <a:off x="0" y="1472442"/>
          <a:ext cx="10515600" cy="678746"/>
        </a:xfrm>
        <a:prstGeom prst="roundRect">
          <a:avLst/>
        </a:prstGeom>
        <a:solidFill>
          <a:schemeClr val="accent2">
            <a:hueOff val="2577445"/>
            <a:satOff val="-7397"/>
            <a:lumOff val="-1184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CW maintains strong solution quality with moderate runtime costs. </a:t>
          </a:r>
        </a:p>
      </dsp:txBody>
      <dsp:txXfrm>
        <a:off x="33134" y="1505576"/>
        <a:ext cx="10449332" cy="612478"/>
      </dsp:txXfrm>
    </dsp:sp>
    <dsp:sp modelId="{1D36A92F-2884-42CF-8EF9-C3F432898C75}">
      <dsp:nvSpPr>
        <dsp:cNvPr id="0" name=""/>
        <dsp:cNvSpPr/>
      </dsp:nvSpPr>
      <dsp:spPr>
        <a:xfrm>
          <a:off x="0" y="2200149"/>
          <a:ext cx="10515600" cy="678746"/>
        </a:xfrm>
        <a:prstGeom prst="roundRect">
          <a:avLst/>
        </a:prstGeom>
        <a:solidFill>
          <a:schemeClr val="accent2">
            <a:hueOff val="3866169"/>
            <a:satOff val="-11096"/>
            <a:lumOff val="-1776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HS incurs substantially higher computational cost. </a:t>
          </a:r>
        </a:p>
      </dsp:txBody>
      <dsp:txXfrm>
        <a:off x="33134" y="2233283"/>
        <a:ext cx="10449332" cy="612478"/>
      </dsp:txXfrm>
    </dsp:sp>
    <dsp:sp modelId="{B77704EA-F520-49AA-9C91-9BB7AF8ADE26}">
      <dsp:nvSpPr>
        <dsp:cNvPr id="0" name=""/>
        <dsp:cNvSpPr/>
      </dsp:nvSpPr>
      <dsp:spPr>
        <a:xfrm>
          <a:off x="0" y="2927855"/>
          <a:ext cx="10515600" cy="678746"/>
        </a:xfrm>
        <a:prstGeom prst="roundRect">
          <a:avLst/>
        </a:prstGeom>
        <a:solidFill>
          <a:schemeClr val="accent2">
            <a:hueOff val="5154891"/>
            <a:satOff val="-14794"/>
            <a:lumOff val="-2368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Results suggest Harmony Search performance may depend heavily on parameter tuning and implementation details. </a:t>
          </a:r>
        </a:p>
      </dsp:txBody>
      <dsp:txXfrm>
        <a:off x="33134" y="2960989"/>
        <a:ext cx="10449332" cy="612478"/>
      </dsp:txXfrm>
    </dsp:sp>
    <dsp:sp modelId="{9EC2AA29-03B5-4B8C-AB98-829197C0BB64}">
      <dsp:nvSpPr>
        <dsp:cNvPr id="0" name=""/>
        <dsp:cNvSpPr/>
      </dsp:nvSpPr>
      <dsp:spPr>
        <a:xfrm>
          <a:off x="0" y="3655561"/>
          <a:ext cx="10515600" cy="678746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Overall best balance: Clarke-Wright Savings.</a:t>
          </a:r>
        </a:p>
      </dsp:txBody>
      <dsp:txXfrm>
        <a:off x="33134" y="3688695"/>
        <a:ext cx="10449332" cy="61247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F0D106B-E00F-44F0-8C0B-78FA9C249EB7}">
      <dsp:nvSpPr>
        <dsp:cNvPr id="0" name=""/>
        <dsp:cNvSpPr/>
      </dsp:nvSpPr>
      <dsp:spPr>
        <a:xfrm>
          <a:off x="0" y="2703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C41366-4B46-4027-BC0A-AD64968AD251}">
      <dsp:nvSpPr>
        <dsp:cNvPr id="0" name=""/>
        <dsp:cNvSpPr/>
      </dsp:nvSpPr>
      <dsp:spPr>
        <a:xfrm>
          <a:off x="0" y="2703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Key Findings</a:t>
          </a:r>
          <a:endParaRPr lang="en-US" sz="2400" kern="1200"/>
        </a:p>
      </dsp:txBody>
      <dsp:txXfrm>
        <a:off x="0" y="2703"/>
        <a:ext cx="6900512" cy="921789"/>
      </dsp:txXfrm>
    </dsp:sp>
    <dsp:sp modelId="{EBCB624A-FB93-4E92-8BA5-75A549167C0F}">
      <dsp:nvSpPr>
        <dsp:cNvPr id="0" name=""/>
        <dsp:cNvSpPr/>
      </dsp:nvSpPr>
      <dsp:spPr>
        <a:xfrm>
          <a:off x="0" y="924492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FCE26E-5C10-4578-8056-6C0439876D29}">
      <dsp:nvSpPr>
        <dsp:cNvPr id="0" name=""/>
        <dsp:cNvSpPr/>
      </dsp:nvSpPr>
      <dsp:spPr>
        <a:xfrm>
          <a:off x="0" y="924492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Nearest Neighbor was the fastest algorithm. </a:t>
          </a:r>
        </a:p>
      </dsp:txBody>
      <dsp:txXfrm>
        <a:off x="0" y="924492"/>
        <a:ext cx="6900512" cy="921789"/>
      </dsp:txXfrm>
    </dsp:sp>
    <dsp:sp modelId="{2E46BBDE-404C-40CB-B5C4-EB512B1BABB1}">
      <dsp:nvSpPr>
        <dsp:cNvPr id="0" name=""/>
        <dsp:cNvSpPr/>
      </dsp:nvSpPr>
      <dsp:spPr>
        <a:xfrm>
          <a:off x="0" y="1846281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FC4E0D7-15F9-4A37-BEE9-875F173CFC5F}">
      <dsp:nvSpPr>
        <dsp:cNvPr id="0" name=""/>
        <dsp:cNvSpPr/>
      </dsp:nvSpPr>
      <dsp:spPr>
        <a:xfrm>
          <a:off x="0" y="1846281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Clarke-Wright offered the best quality-to-runtime trade-off</a:t>
          </a:r>
          <a:r>
            <a:rPr lang="en-US" sz="1800" kern="1200">
              <a:latin typeface="Aptos Display" panose="02110004020202020204"/>
            </a:rPr>
            <a:t>.</a:t>
          </a:r>
          <a:endParaRPr lang="en-US" sz="1800" kern="1200"/>
        </a:p>
      </dsp:txBody>
      <dsp:txXfrm>
        <a:off x="0" y="1846281"/>
        <a:ext cx="6900512" cy="921789"/>
      </dsp:txXfrm>
    </dsp:sp>
    <dsp:sp modelId="{149A1302-D9AE-45F0-9C4A-D3886D9C7C13}">
      <dsp:nvSpPr>
        <dsp:cNvPr id="0" name=""/>
        <dsp:cNvSpPr/>
      </dsp:nvSpPr>
      <dsp:spPr>
        <a:xfrm>
          <a:off x="0" y="2768070"/>
          <a:ext cx="6900512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7EA9C17-A507-4207-B835-66694BF60024}">
      <dsp:nvSpPr>
        <dsp:cNvPr id="0" name=""/>
        <dsp:cNvSpPr/>
      </dsp:nvSpPr>
      <dsp:spPr>
        <a:xfrm>
          <a:off x="0" y="2768070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Harmony Search required the most computation and showed sensitivity to implementation choices. </a:t>
          </a:r>
        </a:p>
      </dsp:txBody>
      <dsp:txXfrm>
        <a:off x="0" y="2768070"/>
        <a:ext cx="6900512" cy="921789"/>
      </dsp:txXfrm>
    </dsp:sp>
    <dsp:sp modelId="{A3921CF1-C84D-4660-A4C3-C807863103B0}">
      <dsp:nvSpPr>
        <dsp:cNvPr id="0" name=""/>
        <dsp:cNvSpPr/>
      </dsp:nvSpPr>
      <dsp:spPr>
        <a:xfrm>
          <a:off x="0" y="3689859"/>
          <a:ext cx="6900512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1326F8F-0286-43E0-93DB-86E8718B6833}">
      <dsp:nvSpPr>
        <dsp:cNvPr id="0" name=""/>
        <dsp:cNvSpPr/>
      </dsp:nvSpPr>
      <dsp:spPr>
        <a:xfrm>
          <a:off x="0" y="3689859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Takeaway</a:t>
          </a:r>
          <a:endParaRPr lang="en-US" sz="2400" kern="1200"/>
        </a:p>
      </dsp:txBody>
      <dsp:txXfrm>
        <a:off x="0" y="3689859"/>
        <a:ext cx="6900512" cy="921789"/>
      </dsp:txXfrm>
    </dsp:sp>
    <dsp:sp modelId="{712B9346-0953-4619-8FFF-EE8DA082055B}">
      <dsp:nvSpPr>
        <dsp:cNvPr id="0" name=""/>
        <dsp:cNvSpPr/>
      </dsp:nvSpPr>
      <dsp:spPr>
        <a:xfrm>
          <a:off x="0" y="4611648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724D1D-8CD2-4EFA-9A1D-FDDBEE9E0D18}">
      <dsp:nvSpPr>
        <dsp:cNvPr id="0" name=""/>
        <dsp:cNvSpPr/>
      </dsp:nvSpPr>
      <dsp:spPr>
        <a:xfrm>
          <a:off x="0" y="4611648"/>
          <a:ext cx="6900512" cy="9217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Classic heuristics can outperform sophisticated metaheuristics when the latter aren't carefully tuned, and algorithm choice matters more than problem size for solution quality.</a:t>
          </a:r>
        </a:p>
      </dsp:txBody>
      <dsp:txXfrm>
        <a:off x="0" y="4611648"/>
        <a:ext cx="6900512" cy="9217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0B55C0-9099-E4B0-A028-BAEA4CB547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C9200AA-2D0D-FE4B-E246-F5BBF6D5EA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CBFFFD-E7D3-91F1-FAEC-CEC710AB3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534E3-656B-6249-BE31-8A0DF6C2C323}" type="datetimeFigureOut">
              <a:rPr lang="en-JP" smtClean="0"/>
              <a:t>07/25/2026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0B11AB-1E1C-2A79-F584-A90E01432C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3D5B77-4D89-3CB8-7B06-93F0C9F49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39D0-68DF-4743-9662-9ED1F65B366E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0322290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5616E-AF01-27D0-EF05-883FAF72E4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27366D-A0D6-339F-FD92-7BF9D4D4BD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5AFF08-00AB-67DE-D1E5-0E2F7405A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534E3-656B-6249-BE31-8A0DF6C2C323}" type="datetimeFigureOut">
              <a:rPr lang="en-JP" smtClean="0"/>
              <a:t>07/25/2026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5F1974-A365-9E47-1A87-DEEFB77DB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FA6DD4-01D5-AFA1-C4BC-80BCA4266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39D0-68DF-4743-9662-9ED1F65B366E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253454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5085E-7FB5-17B4-F70A-C8F4E305E9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0D23B5-01B1-2F06-F541-00007D29C3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C04089-69DC-96A2-38D4-E76C48029D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534E3-656B-6249-BE31-8A0DF6C2C323}" type="datetimeFigureOut">
              <a:rPr lang="en-JP" smtClean="0"/>
              <a:t>07/25/2026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4EC71A-5F0C-8542-0D15-9A77BB942A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9F5F60-8EE7-CFAD-E961-9FBFD51FE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39D0-68DF-4743-9662-9ED1F65B366E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63124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ECB7B-0A72-26CE-2957-F9999B487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CCDFC-CB4F-1724-7FCA-B857F58122E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960A1A-B324-30D0-D70A-FF3B450121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CAE6D7-F46A-3B28-A7D1-D2257227C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534E3-656B-6249-BE31-8A0DF6C2C323}" type="datetimeFigureOut">
              <a:rPr lang="en-JP" smtClean="0"/>
              <a:t>07/25/2026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4677D26-53AD-1F6D-736E-5F1797C4A9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ADF78C-ADAC-F1EE-20F3-E629F3FE6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39D0-68DF-4743-9662-9ED1F65B366E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986433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219DA-1399-E217-8761-507FF34DF3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366E46-154C-8D21-C0AF-5C5A0F8DAB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3DD473-C7DB-D706-7D8F-424ECFF95D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ED7CCF-1CA7-D2CD-48A1-2F6F79E5C9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958014-AAF1-562B-5771-A1081F3C68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F74E9B3-D38F-3E6D-D648-BD4362385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534E3-656B-6249-BE31-8A0DF6C2C323}" type="datetimeFigureOut">
              <a:rPr lang="en-JP" smtClean="0"/>
              <a:t>07/25/2026</a:t>
            </a:fld>
            <a:endParaRPr lang="en-JP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E9FFD71-5C75-E2AA-326F-9563BB131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3C3B736-B8F3-1608-1E56-5E7337D490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39D0-68DF-4743-9662-9ED1F65B366E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9785239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3EF816-2F26-6603-3E87-3F3C698CB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DCBECE9-D536-2A3B-D89B-5C6D9E63E6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534E3-656B-6249-BE31-8A0DF6C2C323}" type="datetimeFigureOut">
              <a:rPr lang="en-JP" smtClean="0"/>
              <a:t>07/25/2026</a:t>
            </a:fld>
            <a:endParaRPr lang="en-JP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CF0F250-DFFA-265F-FFCB-C726739611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F32D7C-A68A-0D41-7835-6A33C3227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39D0-68DF-4743-9662-9ED1F65B366E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13749955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439138-2625-E5FF-4C2B-E9D5677DA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534E3-656B-6249-BE31-8A0DF6C2C323}" type="datetimeFigureOut">
              <a:rPr lang="en-JP" smtClean="0"/>
              <a:t>07/25/2026</a:t>
            </a:fld>
            <a:endParaRPr lang="en-JP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0710A2-3F58-ED4B-0B81-1650F5BBD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68DF1F-F9A9-43D7-2FEE-6ED141BD7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39D0-68DF-4743-9662-9ED1F65B366E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46675743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0061AE-3F5C-50EF-EEAB-4B1B092E76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CFF23F-BDD6-6C84-E78F-D7AB6B48DB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05281A-21BB-ABE7-B96A-7BD227DD1B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7A497A3-E14C-0A80-D6CF-A8A877531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534E3-656B-6249-BE31-8A0DF6C2C323}" type="datetimeFigureOut">
              <a:rPr lang="en-JP" smtClean="0"/>
              <a:t>07/25/2026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EEF521-FC4F-30B8-66B2-CEA39676E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F6615E-B1DE-DE83-09D1-29903FAFA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39D0-68DF-4743-9662-9ED1F65B366E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7872957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CFFB71-DF42-A8EB-5E02-360D896F83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B5A19D-E2B8-AB4E-BA11-30EA0291C4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JP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40A19B-59D8-D464-46B9-6B53680384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E387B89-BC95-7C47-B205-2E6B30F3F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534E3-656B-6249-BE31-8A0DF6C2C323}" type="datetimeFigureOut">
              <a:rPr lang="en-JP" smtClean="0"/>
              <a:t>07/25/2026</a:t>
            </a:fld>
            <a:endParaRPr lang="en-JP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7B4F6F9-2D42-A4DB-6F76-39794E3C4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75249C-D6A2-9FB5-9CAF-8E51B363EF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39D0-68DF-4743-9662-9ED1F65B366E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4352991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EC4E50-976B-3313-4E8A-CD7D44F1E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7754D41-FD76-6114-F17D-B00D337E57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471550-9BFF-F3E8-638F-749241FF6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534E3-656B-6249-BE31-8A0DF6C2C323}" type="datetimeFigureOut">
              <a:rPr lang="en-JP" smtClean="0"/>
              <a:t>07/25/2026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08FAAC-F6FF-245F-50D5-C13EBB289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E75256-CA51-A2A3-1C97-76BABC80AB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39D0-68DF-4743-9662-9ED1F65B366E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41943904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E4F9DB-76F2-9683-4E1C-AC397DEF8B8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B3C94-134E-3E23-9509-6B7AC65D5C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2D0A48-23E1-BDF8-94AA-92294D47A6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81534E3-656B-6249-BE31-8A0DF6C2C323}" type="datetimeFigureOut">
              <a:rPr lang="en-JP" smtClean="0"/>
              <a:t>07/25/2026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EFE2C-1C5B-0C46-86FF-32724FA82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C271DF-C04D-1EC9-3770-E66A4DCE23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4239D0-68DF-4743-9662-9ED1F65B366E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20563515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94B7C7-55C0-0CCB-26AF-27C14E92B3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JP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265CB6-EAB5-019C-78DA-A68A6B55BD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JP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14F809-F8FF-8074-4528-89451FCF58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1534E3-656B-6249-BE31-8A0DF6C2C323}" type="datetimeFigureOut">
              <a:rPr lang="en-JP" smtClean="0"/>
              <a:t>07/25/2026</a:t>
            </a:fld>
            <a:endParaRPr lang="en-JP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1D5DA2-9A22-089A-2785-2AC8518020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JP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8C6B11-64E0-4B6C-EEE6-CC1D089BB1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4239D0-68DF-4743-9662-9ED1F65B366E}" type="slidenum">
              <a:rPr lang="en-JP" smtClean="0"/>
              <a:t>‹#›</a:t>
            </a:fld>
            <a:endParaRPr lang="en-JP"/>
          </a:p>
        </p:txBody>
      </p:sp>
    </p:spTree>
    <p:extLst>
      <p:ext uri="{BB962C8B-B14F-4D97-AF65-F5344CB8AC3E}">
        <p14:creationId xmlns:p14="http://schemas.microsoft.com/office/powerpoint/2010/main" val="36282516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JP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hyperlink" Target="https://youtu.be/mskTMfNV22Q?si=BNholYHCDtbKVuxU" TargetMode="Externa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Slide Background Fill">
            <a:extLst>
              <a:ext uri="{FF2B5EF4-FFF2-40B4-BE49-F238E27FC236}">
                <a16:creationId xmlns:a16="http://schemas.microsoft.com/office/drawing/2014/main" id="{907E470A-25F4-47D0-8FEC-EE9FD606B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66220E63-99E1-482A-A0A6-B47EB4BF8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848" y="0"/>
            <a:ext cx="12188949" cy="6858000"/>
            <a:chOff x="-2848" y="0"/>
            <a:chExt cx="12188949" cy="6858000"/>
          </a:xfrm>
        </p:grpSpPr>
        <p:sp>
          <p:nvSpPr>
            <p:cNvPr id="11" name="Color Cover">
              <a:extLst>
                <a:ext uri="{FF2B5EF4-FFF2-40B4-BE49-F238E27FC236}">
                  <a16:creationId xmlns:a16="http://schemas.microsoft.com/office/drawing/2014/main" id="{F8610896-EA5E-4BE8-8398-C1AFC0490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5"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Color Cover">
              <a:extLst>
                <a:ext uri="{FF2B5EF4-FFF2-40B4-BE49-F238E27FC236}">
                  <a16:creationId xmlns:a16="http://schemas.microsoft.com/office/drawing/2014/main" id="{F44E9794-9C4B-427F-BB50-89D893347D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8618EE54-271A-4FE8-B6B3-D0FCF55A7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51279" y="598259"/>
            <a:ext cx="10889442" cy="5680742"/>
            <a:chOff x="651279" y="598259"/>
            <a:chExt cx="10889442" cy="5680742"/>
          </a:xfrm>
        </p:grpSpPr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ECA6F781-4382-4525-9DA8-9D66605F87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Color">
              <a:extLst>
                <a:ext uri="{FF2B5EF4-FFF2-40B4-BE49-F238E27FC236}">
                  <a16:creationId xmlns:a16="http://schemas.microsoft.com/office/drawing/2014/main" id="{209C186B-2883-498E-A176-6B60F8B51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2B2BE9A-A97B-7EA5-4A55-19386237E06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14984" y="891712"/>
            <a:ext cx="5309616" cy="516078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48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Comparing Nearest Neighbor, Clarke-Wright Savings, and Harmony Search for the CVRP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8AF861-1C25-B78D-D3B2-DB3BC7657B1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48930" y="4585598"/>
            <a:ext cx="7792539" cy="123467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2200" dirty="0">
                <a:solidFill>
                  <a:schemeClr val="bg1"/>
                </a:solidFill>
              </a:rPr>
              <a:t>Mandy Jones, Tomu </a:t>
            </a:r>
            <a:r>
              <a:rPr lang="en-US" sz="2200">
                <a:solidFill>
                  <a:schemeClr val="bg1"/>
                </a:solidFill>
              </a:rPr>
              <a:t>Yamashita, Tristen Martin, Charles Davis</a:t>
            </a:r>
            <a:endParaRPr lang="en-US" sz="2200" dirty="0">
              <a:solidFill>
                <a:schemeClr val="bg1"/>
              </a:solidFill>
            </a:endParaRPr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180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CA24FCE-228B-BE2A-724E-EB283CF94B19}"/>
              </a:ext>
            </a:extLst>
          </p:cNvPr>
          <p:cNvSpPr txBox="1"/>
          <p:nvPr/>
        </p:nvSpPr>
        <p:spPr>
          <a:xfrm>
            <a:off x="1014614" y="5355344"/>
            <a:ext cx="10174512" cy="92333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>
                <a:solidFill>
                  <a:schemeClr val="bg1"/>
                </a:solidFill>
                <a:ea typeface="+mn-lt"/>
                <a:cs typeface="+mn-lt"/>
              </a:rPr>
              <a:t>This project used GenAI for generating graphs, debugging</a:t>
            </a:r>
            <a:r>
              <a:rPr lang="en-US" dirty="0">
                <a:solidFill>
                  <a:schemeClr val="bg1"/>
                </a:solidFill>
                <a:ea typeface="+mn-lt"/>
                <a:cs typeface="+mn-lt"/>
              </a:rPr>
              <a:t> code, understanding Python concepts, and Git/GitHub troubleshooting. All algorithm logic, experimental decisions, analysis, and results were produced and verified by the team.</a:t>
            </a:r>
            <a:endParaRPr lang="en-US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53314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39AE51-BEED-05CA-88E1-1B1A8E17B7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0" y="990599"/>
            <a:ext cx="9906000" cy="685800"/>
          </a:xfrm>
        </p:spPr>
        <p:txBody>
          <a:bodyPr anchor="t">
            <a:normAutofit/>
          </a:bodyPr>
          <a:lstStyle/>
          <a:p>
            <a:r>
              <a:rPr lang="en-JP" sz="4000"/>
              <a:t>Problem Overview</a:t>
            </a:r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D325CE86-DC01-D079-4470-2BD1073F09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430498"/>
              </p:ext>
            </p:extLst>
          </p:nvPr>
        </p:nvGraphicFramePr>
        <p:xfrm>
          <a:off x="685800" y="2137228"/>
          <a:ext cx="108204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77783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06F1813-25CE-820A-9159-83F945674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JP">
                <a:solidFill>
                  <a:srgbClr val="FFFFFF"/>
                </a:solidFill>
              </a:rPr>
              <a:t>Algorithms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AC172-2748-A5A3-D530-EA2932C0E3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JP" sz="2400" b="1"/>
              <a:t>Nearest Neighbor (NN)</a:t>
            </a:r>
          </a:p>
          <a:p>
            <a:pPr lvl="0"/>
            <a:r>
              <a:rPr lang="en-JP" sz="2400"/>
              <a:t>Greedy baseline heuristic. </a:t>
            </a:r>
          </a:p>
          <a:p>
            <a:pPr lvl="0"/>
            <a:r>
              <a:rPr lang="en-JP" sz="2400"/>
              <a:t>Repeatedly visits the closest feasible unvisited customer. </a:t>
            </a:r>
          </a:p>
          <a:p>
            <a:pPr marL="0" lvl="0" indent="0">
              <a:buNone/>
            </a:pPr>
            <a:r>
              <a:rPr lang="en-JP" sz="2400" b="1"/>
              <a:t>Clarke-Wright Savings (CW)</a:t>
            </a:r>
          </a:p>
          <a:p>
            <a:pPr lvl="0"/>
            <a:r>
              <a:rPr lang="en-JP" sz="2400"/>
              <a:t>Begins with one route per customer. </a:t>
            </a:r>
          </a:p>
          <a:p>
            <a:pPr lvl="0"/>
            <a:r>
              <a:rPr lang="en-JP" sz="2400"/>
              <a:t>Merges routes using maximum distance savings. </a:t>
            </a:r>
          </a:p>
          <a:p>
            <a:pPr marL="0" indent="0">
              <a:buNone/>
            </a:pPr>
            <a:r>
              <a:rPr lang="en-JP" sz="2400" b="1"/>
              <a:t>Harmony Search (HS)</a:t>
            </a:r>
          </a:p>
          <a:p>
            <a:pPr lvl="0"/>
            <a:r>
              <a:rPr lang="en-JP" sz="2400"/>
              <a:t>Metaheuristic based on harmony memory. </a:t>
            </a:r>
          </a:p>
          <a:p>
            <a:pPr lvl="0"/>
            <a:r>
              <a:rPr lang="en-JP" sz="2400"/>
              <a:t>Generates and improves candidate solutions through memory consideration, pitch adjustment, and local search.</a:t>
            </a:r>
          </a:p>
          <a:p>
            <a:endParaRPr lang="en-JP" sz="2400"/>
          </a:p>
        </p:txBody>
      </p:sp>
    </p:spTree>
    <p:extLst>
      <p:ext uri="{BB962C8B-B14F-4D97-AF65-F5344CB8AC3E}">
        <p14:creationId xmlns:p14="http://schemas.microsoft.com/office/powerpoint/2010/main" val="1998405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1" name="Slide Background">
            <a:extLst>
              <a:ext uri="{FF2B5EF4-FFF2-40B4-BE49-F238E27FC236}">
                <a16:creationId xmlns:a16="http://schemas.microsoft.com/office/drawing/2014/main" id="{B210AC1D-4063-4C6E-9528-FA9C4C0C18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2" name="Rectangle 41">
            <a:extLst>
              <a:ext uri="{FF2B5EF4-FFF2-40B4-BE49-F238E27FC236}">
                <a16:creationId xmlns:a16="http://schemas.microsoft.com/office/drawing/2014/main" id="{02F8C595-E68C-4306-AED8-DC7826A0A5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1416414" cy="6858000"/>
          </a:xfrm>
          <a:prstGeom prst="rect">
            <a:avLst/>
          </a:prstGeom>
          <a:ln>
            <a:noFill/>
          </a:ln>
          <a:effectLst>
            <a:outerShdw blurRad="889000" dist="406400" dir="21540000" sx="90000" sy="90000" algn="t" rotWithShape="0">
              <a:srgbClr val="000000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3E38BF-B637-F934-0A9D-EF66B40CF9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0552" y="145144"/>
            <a:ext cx="4889483" cy="1708244"/>
          </a:xfrm>
        </p:spPr>
        <p:txBody>
          <a:bodyPr anchor="ctr">
            <a:normAutofit/>
          </a:bodyPr>
          <a:lstStyle/>
          <a:p>
            <a:r>
              <a:rPr lang="en-JP" sz="4000"/>
              <a:t>Research Questions</a:t>
            </a:r>
          </a:p>
        </p:txBody>
      </p:sp>
      <p:pic>
        <p:nvPicPr>
          <p:cNvPr id="43" name="Picture 42" descr="Angled shot of pen on a graph">
            <a:extLst>
              <a:ext uri="{FF2B5EF4-FFF2-40B4-BE49-F238E27FC236}">
                <a16:creationId xmlns:a16="http://schemas.microsoft.com/office/drawing/2014/main" id="{D1266AA7-4BCA-E9D2-8D82-BE2EFA68F3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0753" b="-4"/>
          <a:stretch>
            <a:fillRect/>
          </a:stretch>
        </p:blipFill>
        <p:spPr>
          <a:xfrm>
            <a:off x="-1" y="-2"/>
            <a:ext cx="6096001" cy="6858002"/>
          </a:xfrm>
          <a:prstGeom prst="rect">
            <a:avLst/>
          </a:prstGeom>
        </p:spPr>
      </p:pic>
      <p:sp>
        <p:nvSpPr>
          <p:cNvPr id="44" name="Content Placeholder 2">
            <a:extLst>
              <a:ext uri="{FF2B5EF4-FFF2-40B4-BE49-F238E27FC236}">
                <a16:creationId xmlns:a16="http://schemas.microsoft.com/office/drawing/2014/main" id="{9000154E-ABE0-DFD1-6B62-E0A5309FB9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40552" y="997046"/>
            <a:ext cx="4388740" cy="4865663"/>
          </a:xfrm>
        </p:spPr>
        <p:txBody>
          <a:bodyPr anchor="ctr">
            <a:normAutofit/>
          </a:bodyPr>
          <a:lstStyle/>
          <a:p>
            <a:pPr lvl="0"/>
            <a:r>
              <a:rPr lang="en-JP" sz="1600"/>
              <a:t>How does runtime change as customer count increases? </a:t>
            </a:r>
          </a:p>
          <a:p>
            <a:pPr lvl="0"/>
            <a:r>
              <a:rPr lang="en-JP" sz="1600"/>
              <a:t>Which algorithm provides the best balance between solution quality and speed? </a:t>
            </a:r>
          </a:p>
          <a:p>
            <a:r>
              <a:rPr lang="en-US" sz="1600">
                <a:ea typeface="+mn-lt"/>
                <a:cs typeface="+mn-lt"/>
              </a:rPr>
              <a:t>Does each algorithm's gap from the best-known solution stay consistent as problem size grows?</a:t>
            </a:r>
            <a:endParaRPr lang="en-US">
              <a:ea typeface="+mn-lt"/>
              <a:cs typeface="+mn-lt"/>
            </a:endParaRPr>
          </a:p>
          <a:p>
            <a:endParaRPr lang="en-JP" sz="1600" dirty="0"/>
          </a:p>
          <a:p>
            <a:pPr marL="0" indent="0">
              <a:buNone/>
            </a:pPr>
            <a:r>
              <a:rPr lang="en-JP" sz="1600" b="1"/>
              <a:t>Expected Outcomes</a:t>
            </a:r>
            <a:endParaRPr lang="en-JP" sz="1600"/>
          </a:p>
          <a:p>
            <a:pPr lvl="0"/>
            <a:r>
              <a:rPr lang="en-JP" sz="1600"/>
              <a:t>NN should be fastest.</a:t>
            </a:r>
          </a:p>
          <a:p>
            <a:pPr lvl="0"/>
            <a:r>
              <a:rPr lang="en-JP" sz="1600"/>
              <a:t>Harmony Search should provide stronger route quality.</a:t>
            </a:r>
          </a:p>
          <a:p>
            <a:pPr lvl="0"/>
            <a:r>
              <a:rPr lang="en-JP" sz="1600"/>
              <a:t>Clarke-Wright may offer the best trade-off.</a:t>
            </a:r>
          </a:p>
          <a:p>
            <a:pPr lvl="0"/>
            <a:endParaRPr lang="en-JP" sz="1600"/>
          </a:p>
        </p:txBody>
      </p:sp>
    </p:spTree>
    <p:extLst>
      <p:ext uri="{BB962C8B-B14F-4D97-AF65-F5344CB8AC3E}">
        <p14:creationId xmlns:p14="http://schemas.microsoft.com/office/powerpoint/2010/main" val="35225671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FE605DB-9559-47C2-CC47-133C55B2C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558489" cy="1325563"/>
          </a:xfrm>
        </p:spPr>
        <p:txBody>
          <a:bodyPr>
            <a:normAutofit/>
          </a:bodyPr>
          <a:lstStyle/>
          <a:p>
            <a:r>
              <a:rPr lang="en-JP" dirty="0"/>
              <a:t>Experimental Design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08695" y="1"/>
            <a:ext cx="1135066" cy="477997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428626-54FE-49F8-7688-520493FE9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58489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JP" sz="1500"/>
              <a:t>Benchmark dataset: CVRPLIB instances. </a:t>
            </a:r>
          </a:p>
          <a:p>
            <a:pPr lvl="0"/>
            <a:r>
              <a:rPr lang="en-JP" sz="1500"/>
              <a:t>Problem sizes: approximately 30–200 customers. </a:t>
            </a:r>
          </a:p>
          <a:p>
            <a:pPr lvl="0"/>
            <a:r>
              <a:rPr lang="en-JP" sz="1500"/>
              <a:t>Each algorithm tested 10 times per instance. </a:t>
            </a:r>
          </a:p>
          <a:p>
            <a:endParaRPr lang="en-JP" sz="1500" dirty="0"/>
          </a:p>
          <a:p>
            <a:pPr marL="0" lvl="0" indent="0">
              <a:buNone/>
            </a:pPr>
            <a:r>
              <a:rPr lang="en-JP" sz="1500" b="1"/>
              <a:t>Metrics:</a:t>
            </a:r>
          </a:p>
          <a:p>
            <a:pPr lvl="1"/>
            <a:r>
              <a:rPr lang="en-JP" sz="1500"/>
              <a:t>Percentage gap from best-known solution.</a:t>
            </a:r>
          </a:p>
          <a:p>
            <a:pPr lvl="1"/>
            <a:r>
              <a:rPr lang="en-JP" sz="1500"/>
              <a:t>Execution runtime (milliseconds). </a:t>
            </a:r>
          </a:p>
          <a:p>
            <a:pPr lvl="1"/>
            <a:endParaRPr lang="en-JP" sz="1500" dirty="0"/>
          </a:p>
          <a:p>
            <a:pPr marL="0" indent="0">
              <a:buNone/>
            </a:pPr>
            <a:r>
              <a:rPr lang="en-JP" sz="1500" b="1"/>
              <a:t>Goal: </a:t>
            </a:r>
          </a:p>
          <a:p>
            <a:pPr lvl="1"/>
            <a:r>
              <a:rPr lang="en-JP" sz="1500"/>
              <a:t>Compare quality, speed, and scalability.</a:t>
            </a:r>
          </a:p>
          <a:p>
            <a:endParaRPr lang="en-JP" sz="150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2624479"/>
            <a:ext cx="812427" cy="812427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912417" y="1218531"/>
            <a:ext cx="2387600" cy="23876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0"/>
            <a:ext cx="2315251" cy="1550992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724638" y="1331572"/>
            <a:ext cx="0" cy="1597708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05550" y="4112081"/>
            <a:ext cx="1186451" cy="1771650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6086940" y="4145122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21310" y="4962670"/>
            <a:ext cx="2643352" cy="1895331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60535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D66040-D5F2-933F-155E-D9C91ADCB2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E5539EC-8CB8-002F-68C6-6788402826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29768"/>
            <a:ext cx="12202175" cy="1519356"/>
            <a:chOff x="-1" y="-29768"/>
            <a:chExt cx="12202175" cy="1519356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6C5D55A6-9EFD-CDA3-20CC-A99812CE1A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5B6E73B-6DFD-AE6C-1628-DF8DC30085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8917093" y="-1801610"/>
              <a:ext cx="1507122" cy="5063040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0E00FC4-DDBC-F424-CF71-73AF7A28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3100712" y="-3130481"/>
              <a:ext cx="1519356" cy="7720782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" name="Title 1">
            <a:extLst>
              <a:ext uri="{FF2B5EF4-FFF2-40B4-BE49-F238E27FC236}">
                <a16:creationId xmlns:a16="http://schemas.microsoft.com/office/drawing/2014/main" id="{A24A0750-891B-20F7-FAFB-568277CE20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1" y="301843"/>
            <a:ext cx="10477109" cy="1003532"/>
          </a:xfrm>
        </p:spPr>
        <p:txBody>
          <a:bodyPr anchor="ctr">
            <a:normAutofit/>
          </a:bodyPr>
          <a:lstStyle/>
          <a:p>
            <a:r>
              <a:rPr lang="en-JP" sz="3200">
                <a:solidFill>
                  <a:srgbClr val="FFFFFF"/>
                </a:solidFill>
              </a:rPr>
              <a:t>Theoretical Complexity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42F9C36-840E-5FAB-D0C1-7C8B9F527B7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9089119"/>
              </p:ext>
            </p:extLst>
          </p:nvPr>
        </p:nvGraphicFramePr>
        <p:xfrm>
          <a:off x="876690" y="2283691"/>
          <a:ext cx="10439010" cy="359917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3874962">
                  <a:extLst>
                    <a:ext uri="{9D8B030D-6E8A-4147-A177-3AD203B41FA5}">
                      <a16:colId xmlns:a16="http://schemas.microsoft.com/office/drawing/2014/main" val="1556857863"/>
                    </a:ext>
                  </a:extLst>
                </a:gridCol>
                <a:gridCol w="2333326">
                  <a:extLst>
                    <a:ext uri="{9D8B030D-6E8A-4147-A177-3AD203B41FA5}">
                      <a16:colId xmlns:a16="http://schemas.microsoft.com/office/drawing/2014/main" val="4184054019"/>
                    </a:ext>
                  </a:extLst>
                </a:gridCol>
                <a:gridCol w="4230722">
                  <a:extLst>
                    <a:ext uri="{9D8B030D-6E8A-4147-A177-3AD203B41FA5}">
                      <a16:colId xmlns:a16="http://schemas.microsoft.com/office/drawing/2014/main" val="3578295131"/>
                    </a:ext>
                  </a:extLst>
                </a:gridCol>
              </a:tblGrid>
              <a:tr h="71743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JP" sz="2400" b="0" cap="none" spc="0">
                          <a:solidFill>
                            <a:schemeClr val="tx1"/>
                          </a:solidFill>
                          <a:effectLst/>
                        </a:rPr>
                        <a:t>Algorithm</a:t>
                      </a:r>
                    </a:p>
                  </a:txBody>
                  <a:tcPr marL="206507" marR="397098" marT="158852" marB="1588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JP" sz="2400" b="0" cap="none" spc="0">
                          <a:solidFill>
                            <a:schemeClr val="tx1"/>
                          </a:solidFill>
                          <a:effectLst/>
                        </a:rPr>
                        <a:t>Complexity</a:t>
                      </a:r>
                      <a:endParaRPr lang="en-JP" sz="24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06507" marR="397098" marT="158852" marB="1588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JP" sz="2400" b="0" cap="none" spc="0">
                          <a:solidFill>
                            <a:schemeClr val="tx1"/>
                          </a:solidFill>
                          <a:effectLst/>
                        </a:rPr>
                        <a:t>Main Bottleneck</a:t>
                      </a:r>
                      <a:endParaRPr lang="en-JP" sz="24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06507" marR="397098" marT="158852" marB="1588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05157005"/>
                  </a:ext>
                </a:extLst>
              </a:tr>
              <a:tr h="108215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JP" sz="2400" b="0" cap="none" spc="0">
                          <a:solidFill>
                            <a:schemeClr val="tx1"/>
                          </a:solidFill>
                          <a:effectLst/>
                        </a:rPr>
                        <a:t>Nearest Neighbor</a:t>
                      </a:r>
                      <a:endParaRPr lang="en-JP" sz="24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06507" marR="397098" marT="158852" marB="1588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JP" sz="2400" b="0" cap="none" spc="0">
                          <a:solidFill>
                            <a:schemeClr val="tx1"/>
                          </a:solidFill>
                          <a:effectLst/>
                        </a:rPr>
                        <a:t>Θ(n²)</a:t>
                      </a:r>
                      <a:endParaRPr lang="en-JP" sz="24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06507" marR="397098" marT="158852" marB="1588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JP" sz="2400" b="0" cap="none" spc="0">
                          <a:solidFill>
                            <a:schemeClr val="tx1"/>
                          </a:solidFill>
                          <a:effectLst/>
                        </a:rPr>
                        <a:t>Scanning unvisited customers repeatedly</a:t>
                      </a:r>
                      <a:endParaRPr lang="en-JP" sz="24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06507" marR="397098" marT="158852" marB="1588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1470789"/>
                  </a:ext>
                </a:extLst>
              </a:tr>
              <a:tr h="717434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JP" sz="2400" b="0" cap="none" spc="0">
                          <a:solidFill>
                            <a:schemeClr val="tx1"/>
                          </a:solidFill>
                          <a:effectLst/>
                        </a:rPr>
                        <a:t>Clarke-Wright Savings</a:t>
                      </a:r>
                      <a:endParaRPr lang="en-JP" sz="24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06507" marR="397098" marT="158852" marB="1588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JP" sz="2400" b="0" cap="none" spc="0">
                          <a:solidFill>
                            <a:schemeClr val="tx1"/>
                          </a:solidFill>
                          <a:effectLst/>
                        </a:rPr>
                        <a:t>Θ(n² log n)</a:t>
                      </a:r>
                      <a:endParaRPr lang="en-JP" sz="24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06507" marR="397098" marT="158852" marB="1588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JP" sz="2400" b="0" cap="none" spc="0">
                          <a:solidFill>
                            <a:schemeClr val="tx1"/>
                          </a:solidFill>
                          <a:effectLst/>
                        </a:rPr>
                        <a:t>Sorting savings values</a:t>
                      </a:r>
                      <a:endParaRPr lang="en-JP" sz="24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06507" marR="397098" marT="158852" marB="1588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40152563"/>
                  </a:ext>
                </a:extLst>
              </a:tr>
              <a:tr h="1082151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JP" sz="2400" b="0" cap="none" spc="0">
                          <a:solidFill>
                            <a:schemeClr val="tx1"/>
                          </a:solidFill>
                          <a:effectLst/>
                        </a:rPr>
                        <a:t>Harmony Search</a:t>
                      </a:r>
                      <a:endParaRPr lang="en-JP" sz="24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06507" marR="397098" marT="158852" marB="1588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JP" sz="2400" b="0" cap="none" spc="0">
                          <a:solidFill>
                            <a:schemeClr val="tx1"/>
                          </a:solidFill>
                          <a:effectLst/>
                        </a:rPr>
                        <a:t>Θ(In³)</a:t>
                      </a:r>
                      <a:endParaRPr lang="en-JP" sz="24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06507" marR="397098" marT="158852" marB="1588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JP" sz="2400" b="0" cap="none" spc="0">
                          <a:solidFill>
                            <a:schemeClr val="tx1"/>
                          </a:solidFill>
                          <a:effectLst/>
                        </a:rPr>
                        <a:t>Iterative local search and solution evaluation</a:t>
                      </a:r>
                      <a:endParaRPr lang="en-JP" sz="2400" b="0" i="0" cap="none" spc="0">
                        <a:solidFill>
                          <a:schemeClr val="tx1"/>
                        </a:solidFill>
                        <a:effectLst/>
                      </a:endParaRPr>
                    </a:p>
                  </a:txBody>
                  <a:tcPr marL="206507" marR="397098" marT="158852" marB="158852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935624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625474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B5371F-C67F-17B0-69EE-D18F727B16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529E97A-97C3-40EA-8A04-5C02398D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DF6A618-E005-7D3B-0710-29F195929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3599688" cy="1463040"/>
          </a:xfrm>
        </p:spPr>
        <p:txBody>
          <a:bodyPr anchor="ctr">
            <a:normAutofit/>
          </a:bodyPr>
          <a:lstStyle/>
          <a:p>
            <a:r>
              <a:rPr lang="en-JP" sz="3700">
                <a:solidFill>
                  <a:srgbClr val="FFFFFF"/>
                </a:solidFill>
              </a:rPr>
              <a:t>Nearest Neighbor </a:t>
            </a:r>
            <a:endParaRPr lang="en-US" sz="3700">
              <a:solidFill>
                <a:srgbClr val="FFFFFF"/>
              </a:solidFill>
            </a:endParaRPr>
          </a:p>
        </p:txBody>
      </p:sp>
      <p:sp>
        <p:nvSpPr>
          <p:cNvPr id="17" name="sketch line">
            <a:extLst>
              <a:ext uri="{FF2B5EF4-FFF2-40B4-BE49-F238E27FC236}">
                <a16:creationId xmlns:a16="http://schemas.microsoft.com/office/drawing/2014/main" id="{59FA8C2E-A5A7-4490-927A-7CD58343E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353312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B77AB21-44A9-6ACE-CF8B-7208AC179D3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4462" y="630936"/>
            <a:ext cx="7074409" cy="146304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3200">
                <a:solidFill>
                  <a:srgbClr val="FFFFFF"/>
                </a:solidFill>
              </a:rPr>
              <a:t>Experimental Results</a:t>
            </a:r>
            <a:endParaRPr lang="en-US" sz="3200" dirty="0">
              <a:solidFill>
                <a:srgbClr val="FFFFFF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B88DFA1-52BE-96F3-78BC-A184662EC4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3273597"/>
            <a:ext cx="10917936" cy="26748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76575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5A5A6E1-F1C4-B8A3-6D4E-71F9BA4A0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529E97A-97C3-40EA-8A04-5C02398D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1926426-CB01-B34F-A1F0-4C51222D8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594651"/>
            <a:ext cx="3628717" cy="1542867"/>
          </a:xfrm>
        </p:spPr>
        <p:txBody>
          <a:bodyPr anchor="ctr">
            <a:normAutofit/>
          </a:bodyPr>
          <a:lstStyle/>
          <a:p>
            <a:pPr algn="ctr"/>
            <a:r>
              <a:rPr lang="en-JP" sz="4100" dirty="0">
                <a:solidFill>
                  <a:srgbClr val="FFFFFF"/>
                </a:solidFill>
              </a:rPr>
              <a:t>Clarke-Wright </a:t>
            </a:r>
            <a:r>
              <a:rPr lang="en-JP" sz="4100">
                <a:solidFill>
                  <a:srgbClr val="FFFFFF"/>
                </a:solidFill>
              </a:rPr>
              <a:t>Savings</a:t>
            </a:r>
            <a:endParaRPr lang="en-US"/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59FA8C2E-A5A7-4490-927A-7CD58343E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353312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DAEA9872-68D3-ABA0-A251-B538813EE1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4462" y="630936"/>
            <a:ext cx="7074409" cy="146304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3200">
                <a:solidFill>
                  <a:srgbClr val="FFFFFF"/>
                </a:solidFill>
              </a:rPr>
              <a:t>Experimental</a:t>
            </a:r>
            <a:r>
              <a:rPr lang="en-US" sz="3200" dirty="0">
                <a:solidFill>
                  <a:srgbClr val="FFFFFF"/>
                </a:solidFill>
              </a:rPr>
              <a:t> Results</a:t>
            </a:r>
            <a:endParaRPr lang="en-US" sz="3200"/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71CF3B12-195E-6D4B-6F0D-E1915B44D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3565171"/>
            <a:ext cx="10917936" cy="19466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16876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62405A-121F-521E-E0B2-4F72DC760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2AEEBC8-9D30-42EF-95F2-386C2653FBF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3529E97A-97C3-40EA-8A04-5C02398D5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2877832"/>
          </a:xfrm>
          <a:custGeom>
            <a:avLst/>
            <a:gdLst>
              <a:gd name="connsiteX0" fmla="*/ 6789701 w 12192000"/>
              <a:gd name="connsiteY0" fmla="*/ 2809623 h 2877832"/>
              <a:gd name="connsiteX1" fmla="*/ 6788702 w 12192000"/>
              <a:gd name="connsiteY1" fmla="*/ 2809701 h 2877832"/>
              <a:gd name="connsiteX2" fmla="*/ 6788476 w 12192000"/>
              <a:gd name="connsiteY2" fmla="*/ 2810235 h 2877832"/>
              <a:gd name="connsiteX3" fmla="*/ 0 w 12192000"/>
              <a:gd name="connsiteY3" fmla="*/ 0 h 2877832"/>
              <a:gd name="connsiteX4" fmla="*/ 12192000 w 12192000"/>
              <a:gd name="connsiteY4" fmla="*/ 0 h 2877832"/>
              <a:gd name="connsiteX5" fmla="*/ 12192000 w 12192000"/>
              <a:gd name="connsiteY5" fmla="*/ 1915388 h 2877832"/>
              <a:gd name="connsiteX6" fmla="*/ 12061096 w 12192000"/>
              <a:gd name="connsiteY6" fmla="*/ 1954428 h 2877832"/>
              <a:gd name="connsiteX7" fmla="*/ 11676800 w 12192000"/>
              <a:gd name="connsiteY7" fmla="*/ 2058003 h 2877832"/>
              <a:gd name="connsiteX8" fmla="*/ 10425355 w 12192000"/>
              <a:gd name="connsiteY8" fmla="*/ 2341542 h 2877832"/>
              <a:gd name="connsiteX9" fmla="*/ 9424022 w 12192000"/>
              <a:gd name="connsiteY9" fmla="*/ 2516704 h 2877832"/>
              <a:gd name="connsiteX10" fmla="*/ 8458419 w 12192000"/>
              <a:gd name="connsiteY10" fmla="*/ 2650405 h 2877832"/>
              <a:gd name="connsiteX11" fmla="*/ 7715970 w 12192000"/>
              <a:gd name="connsiteY11" fmla="*/ 2730352 h 2877832"/>
              <a:gd name="connsiteX12" fmla="*/ 6951716 w 12192000"/>
              <a:gd name="connsiteY12" fmla="*/ 2796132 h 2877832"/>
              <a:gd name="connsiteX13" fmla="*/ 6936303 w 12192000"/>
              <a:gd name="connsiteY13" fmla="*/ 2798203 h 2877832"/>
              <a:gd name="connsiteX14" fmla="*/ 6790448 w 12192000"/>
              <a:gd name="connsiteY14" fmla="*/ 2809564 h 2877832"/>
              <a:gd name="connsiteX15" fmla="*/ 6799941 w 12192000"/>
              <a:gd name="connsiteY15" fmla="*/ 2811384 h 2877832"/>
              <a:gd name="connsiteX16" fmla="*/ 6835432 w 12192000"/>
              <a:gd name="connsiteY16" fmla="*/ 2809677 h 2877832"/>
              <a:gd name="connsiteX17" fmla="*/ 6884003 w 12192000"/>
              <a:gd name="connsiteY17" fmla="*/ 2806699 h 2877832"/>
              <a:gd name="connsiteX18" fmla="*/ 7578771 w 12192000"/>
              <a:gd name="connsiteY18" fmla="*/ 2774172 h 2877832"/>
              <a:gd name="connsiteX19" fmla="*/ 8623845 w 12192000"/>
              <a:gd name="connsiteY19" fmla="*/ 2687275 h 2877832"/>
              <a:gd name="connsiteX20" fmla="*/ 9479970 w 12192000"/>
              <a:gd name="connsiteY20" fmla="*/ 2583369 h 2877832"/>
              <a:gd name="connsiteX21" fmla="*/ 10629308 w 12192000"/>
              <a:gd name="connsiteY21" fmla="*/ 2389212 h 2877832"/>
              <a:gd name="connsiteX22" fmla="*/ 11998498 w 12192000"/>
              <a:gd name="connsiteY22" fmla="*/ 2063218 h 2877832"/>
              <a:gd name="connsiteX23" fmla="*/ 12192000 w 12192000"/>
              <a:gd name="connsiteY23" fmla="*/ 2006219 h 2877832"/>
              <a:gd name="connsiteX24" fmla="*/ 12192000 w 12192000"/>
              <a:gd name="connsiteY24" fmla="*/ 2060956 h 2877832"/>
              <a:gd name="connsiteX25" fmla="*/ 11829257 w 12192000"/>
              <a:gd name="connsiteY25" fmla="*/ 2166255 h 2877832"/>
              <a:gd name="connsiteX26" fmla="*/ 10939183 w 12192000"/>
              <a:gd name="connsiteY26" fmla="*/ 2380770 h 2877832"/>
              <a:gd name="connsiteX27" fmla="*/ 9985530 w 12192000"/>
              <a:gd name="connsiteY27" fmla="*/ 2560775 h 2877832"/>
              <a:gd name="connsiteX28" fmla="*/ 9186882 w 12192000"/>
              <a:gd name="connsiteY28" fmla="*/ 2676722 h 2877832"/>
              <a:gd name="connsiteX29" fmla="*/ 8578198 w 12192000"/>
              <a:gd name="connsiteY29" fmla="*/ 2746241 h 2877832"/>
              <a:gd name="connsiteX30" fmla="*/ 7864358 w 12192000"/>
              <a:gd name="connsiteY30" fmla="*/ 2807692 h 2877832"/>
              <a:gd name="connsiteX31" fmla="*/ 6935502 w 12192000"/>
              <a:gd name="connsiteY31" fmla="*/ 2859086 h 2877832"/>
              <a:gd name="connsiteX32" fmla="*/ 6477750 w 12192000"/>
              <a:gd name="connsiteY32" fmla="*/ 2872989 h 2877832"/>
              <a:gd name="connsiteX33" fmla="*/ 6362294 w 12192000"/>
              <a:gd name="connsiteY33" fmla="*/ 2877832 h 2877832"/>
              <a:gd name="connsiteX34" fmla="*/ 6057129 w 12192000"/>
              <a:gd name="connsiteY34" fmla="*/ 2877832 h 2877832"/>
              <a:gd name="connsiteX35" fmla="*/ 5977784 w 12192000"/>
              <a:gd name="connsiteY35" fmla="*/ 2873238 h 2877832"/>
              <a:gd name="connsiteX36" fmla="*/ 5265087 w 12192000"/>
              <a:gd name="connsiteY36" fmla="*/ 2836989 h 2877832"/>
              <a:gd name="connsiteX37" fmla="*/ 4346277 w 12192000"/>
              <a:gd name="connsiteY37" fmla="*/ 2774919 h 2877832"/>
              <a:gd name="connsiteX38" fmla="*/ 3373045 w 12192000"/>
              <a:gd name="connsiteY38" fmla="*/ 2676350 h 2877832"/>
              <a:gd name="connsiteX39" fmla="*/ 2362173 w 12192000"/>
              <a:gd name="connsiteY39" fmla="*/ 2557423 h 2877832"/>
              <a:gd name="connsiteX40" fmla="*/ 1233178 w 12192000"/>
              <a:gd name="connsiteY40" fmla="*/ 2384247 h 2877832"/>
              <a:gd name="connsiteX41" fmla="*/ 68500 w 12192000"/>
              <a:gd name="connsiteY41" fmla="*/ 2144540 h 2877832"/>
              <a:gd name="connsiteX42" fmla="*/ 0 w 12192000"/>
              <a:gd name="connsiteY42" fmla="*/ 2127185 h 2877832"/>
              <a:gd name="connsiteX43" fmla="*/ 0 w 12192000"/>
              <a:gd name="connsiteY43" fmla="*/ 2070696 h 2877832"/>
              <a:gd name="connsiteX44" fmla="*/ 72441 w 12192000"/>
              <a:gd name="connsiteY44" fmla="*/ 2089473 h 2877832"/>
              <a:gd name="connsiteX45" fmla="*/ 600716 w 12192000"/>
              <a:gd name="connsiteY45" fmla="*/ 2207843 h 2877832"/>
              <a:gd name="connsiteX46" fmla="*/ 1769512 w 12192000"/>
              <a:gd name="connsiteY46" fmla="*/ 2418011 h 2877832"/>
              <a:gd name="connsiteX47" fmla="*/ 2613554 w 12192000"/>
              <a:gd name="connsiteY47" fmla="*/ 2534953 h 2877832"/>
              <a:gd name="connsiteX48" fmla="*/ 2581134 w 12192000"/>
              <a:gd name="connsiteY48" fmla="*/ 2525022 h 2877832"/>
              <a:gd name="connsiteX49" fmla="*/ 1112635 w 12192000"/>
              <a:gd name="connsiteY49" fmla="*/ 2192325 h 2877832"/>
              <a:gd name="connsiteX50" fmla="*/ 420412 w 12192000"/>
              <a:gd name="connsiteY50" fmla="*/ 1992892 h 2877832"/>
              <a:gd name="connsiteX51" fmla="*/ 0 w 12192000"/>
              <a:gd name="connsiteY51" fmla="*/ 1853975 h 28778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2000" h="2877832">
                <a:moveTo>
                  <a:pt x="6789701" y="2809623"/>
                </a:moveTo>
                <a:lnTo>
                  <a:pt x="6788702" y="2809701"/>
                </a:lnTo>
                <a:lnTo>
                  <a:pt x="6788476" y="2810235"/>
                </a:ln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1915388"/>
                </a:lnTo>
                <a:lnTo>
                  <a:pt x="12061096" y="1954428"/>
                </a:lnTo>
                <a:cubicBezTo>
                  <a:pt x="11933500" y="1990642"/>
                  <a:pt x="11805390" y="2025171"/>
                  <a:pt x="11676800" y="2058003"/>
                </a:cubicBezTo>
                <a:cubicBezTo>
                  <a:pt x="11262789" y="2165510"/>
                  <a:pt x="10845343" y="2259112"/>
                  <a:pt x="10425355" y="2341542"/>
                </a:cubicBezTo>
                <a:cubicBezTo>
                  <a:pt x="10092810" y="2406753"/>
                  <a:pt x="9759033" y="2465150"/>
                  <a:pt x="9424022" y="2516704"/>
                </a:cubicBezTo>
                <a:cubicBezTo>
                  <a:pt x="9102997" y="2566361"/>
                  <a:pt x="8781133" y="2610928"/>
                  <a:pt x="8458419" y="2650405"/>
                </a:cubicBezTo>
                <a:cubicBezTo>
                  <a:pt x="8211360" y="2680571"/>
                  <a:pt x="7963792" y="2706144"/>
                  <a:pt x="7715970" y="2730352"/>
                </a:cubicBezTo>
                <a:lnTo>
                  <a:pt x="6951716" y="2796132"/>
                </a:lnTo>
                <a:lnTo>
                  <a:pt x="6936303" y="2798203"/>
                </a:lnTo>
                <a:lnTo>
                  <a:pt x="6790448" y="2809564"/>
                </a:lnTo>
                <a:lnTo>
                  <a:pt x="6799941" y="2811384"/>
                </a:lnTo>
                <a:cubicBezTo>
                  <a:pt x="6811623" y="2811850"/>
                  <a:pt x="6823734" y="2809677"/>
                  <a:pt x="6835432" y="2809677"/>
                </a:cubicBezTo>
                <a:cubicBezTo>
                  <a:pt x="6851580" y="2809677"/>
                  <a:pt x="6867729" y="2807070"/>
                  <a:pt x="6884003" y="2806699"/>
                </a:cubicBezTo>
                <a:cubicBezTo>
                  <a:pt x="7115805" y="2801237"/>
                  <a:pt x="7347351" y="2789070"/>
                  <a:pt x="7578771" y="2774172"/>
                </a:cubicBezTo>
                <a:cubicBezTo>
                  <a:pt x="7927552" y="2751704"/>
                  <a:pt x="8276080" y="2723525"/>
                  <a:pt x="8623845" y="2687275"/>
                </a:cubicBezTo>
                <a:cubicBezTo>
                  <a:pt x="8909939" y="2657977"/>
                  <a:pt x="9195310" y="2623342"/>
                  <a:pt x="9479970" y="2583369"/>
                </a:cubicBezTo>
                <a:cubicBezTo>
                  <a:pt x="9864901" y="2528995"/>
                  <a:pt x="10248014" y="2464281"/>
                  <a:pt x="10629308" y="2389212"/>
                </a:cubicBezTo>
                <a:cubicBezTo>
                  <a:pt x="11090114" y="2298092"/>
                  <a:pt x="11546975" y="2190586"/>
                  <a:pt x="11998498" y="2063218"/>
                </a:cubicBezTo>
                <a:lnTo>
                  <a:pt x="12192000" y="2006219"/>
                </a:lnTo>
                <a:lnTo>
                  <a:pt x="12192000" y="2060956"/>
                </a:lnTo>
                <a:lnTo>
                  <a:pt x="11829257" y="2166255"/>
                </a:lnTo>
                <a:cubicBezTo>
                  <a:pt x="11534769" y="2245952"/>
                  <a:pt x="11238120" y="2316838"/>
                  <a:pt x="10939183" y="2380770"/>
                </a:cubicBezTo>
                <a:cubicBezTo>
                  <a:pt x="10622824" y="2448552"/>
                  <a:pt x="10304941" y="2508549"/>
                  <a:pt x="9985530" y="2560775"/>
                </a:cubicBezTo>
                <a:cubicBezTo>
                  <a:pt x="9720036" y="2604224"/>
                  <a:pt x="9453814" y="2642869"/>
                  <a:pt x="9186882" y="2676722"/>
                </a:cubicBezTo>
                <a:cubicBezTo>
                  <a:pt x="8984197" y="2702296"/>
                  <a:pt x="8781514" y="2726379"/>
                  <a:pt x="8578198" y="2746241"/>
                </a:cubicBezTo>
                <a:cubicBezTo>
                  <a:pt x="8340547" y="2768961"/>
                  <a:pt x="8102644" y="2790436"/>
                  <a:pt x="7864358" y="2807692"/>
                </a:cubicBezTo>
                <a:cubicBezTo>
                  <a:pt x="7554994" y="2830036"/>
                  <a:pt x="7245502" y="2847914"/>
                  <a:pt x="6935502" y="2859086"/>
                </a:cubicBezTo>
                <a:cubicBezTo>
                  <a:pt x="6782917" y="2864549"/>
                  <a:pt x="6630334" y="2868397"/>
                  <a:pt x="6477750" y="2872989"/>
                </a:cubicBezTo>
                <a:cubicBezTo>
                  <a:pt x="6439195" y="2870905"/>
                  <a:pt x="6400529" y="2872530"/>
                  <a:pt x="6362294" y="2877832"/>
                </a:cubicBezTo>
                <a:lnTo>
                  <a:pt x="6057129" y="2877832"/>
                </a:lnTo>
                <a:lnTo>
                  <a:pt x="5977784" y="2873238"/>
                </a:lnTo>
                <a:cubicBezTo>
                  <a:pt x="5740261" y="2860825"/>
                  <a:pt x="5502739" y="2847046"/>
                  <a:pt x="5265087" y="2836989"/>
                </a:cubicBezTo>
                <a:cubicBezTo>
                  <a:pt x="4958267" y="2824573"/>
                  <a:pt x="4651826" y="2804093"/>
                  <a:pt x="4346277" y="2774919"/>
                </a:cubicBezTo>
                <a:cubicBezTo>
                  <a:pt x="4021654" y="2744007"/>
                  <a:pt x="3697795" y="2709372"/>
                  <a:pt x="3373045" y="2676350"/>
                </a:cubicBezTo>
                <a:cubicBezTo>
                  <a:pt x="3035412" y="2642088"/>
                  <a:pt x="2698456" y="2602449"/>
                  <a:pt x="2362173" y="2557423"/>
                </a:cubicBezTo>
                <a:cubicBezTo>
                  <a:pt x="1984692" y="2507270"/>
                  <a:pt x="1608364" y="2449544"/>
                  <a:pt x="1233178" y="2384247"/>
                </a:cubicBezTo>
                <a:cubicBezTo>
                  <a:pt x="842181" y="2315534"/>
                  <a:pt x="453758" y="2237046"/>
                  <a:pt x="68500" y="2144540"/>
                </a:cubicBezTo>
                <a:lnTo>
                  <a:pt x="0" y="2127185"/>
                </a:lnTo>
                <a:lnTo>
                  <a:pt x="0" y="2070696"/>
                </a:lnTo>
                <a:lnTo>
                  <a:pt x="72441" y="2089473"/>
                </a:lnTo>
                <a:cubicBezTo>
                  <a:pt x="247961" y="2131651"/>
                  <a:pt x="424164" y="2170911"/>
                  <a:pt x="600716" y="2207843"/>
                </a:cubicBezTo>
                <a:cubicBezTo>
                  <a:pt x="988279" y="2288657"/>
                  <a:pt x="1378133" y="2357555"/>
                  <a:pt x="1769512" y="2418011"/>
                </a:cubicBezTo>
                <a:cubicBezTo>
                  <a:pt x="2052426" y="2461587"/>
                  <a:pt x="2335725" y="2501684"/>
                  <a:pt x="2613554" y="2534953"/>
                </a:cubicBezTo>
                <a:cubicBezTo>
                  <a:pt x="2605544" y="2537560"/>
                  <a:pt x="2594611" y="2527504"/>
                  <a:pt x="2581134" y="2525022"/>
                </a:cubicBezTo>
                <a:cubicBezTo>
                  <a:pt x="2087178" y="2433070"/>
                  <a:pt x="1597684" y="2322177"/>
                  <a:pt x="1112635" y="2192325"/>
                </a:cubicBezTo>
                <a:cubicBezTo>
                  <a:pt x="880453" y="2130254"/>
                  <a:pt x="649713" y="2063776"/>
                  <a:pt x="420412" y="1992892"/>
                </a:cubicBezTo>
                <a:lnTo>
                  <a:pt x="0" y="185397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630C18-6A8E-D11D-426A-3C05317E24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966" y="594651"/>
            <a:ext cx="4078658" cy="1542867"/>
          </a:xfrm>
        </p:spPr>
        <p:txBody>
          <a:bodyPr anchor="ctr">
            <a:normAutofit/>
          </a:bodyPr>
          <a:lstStyle/>
          <a:p>
            <a:r>
              <a:rPr lang="en-JP" dirty="0">
                <a:solidFill>
                  <a:srgbClr val="FFFFFF"/>
                </a:solidFill>
              </a:rPr>
              <a:t>Harmony </a:t>
            </a:r>
            <a:r>
              <a:rPr lang="en-JP">
                <a:solidFill>
                  <a:srgbClr val="FFFFFF"/>
                </a:solidFill>
              </a:rPr>
              <a:t>Search</a:t>
            </a:r>
          </a:p>
        </p:txBody>
      </p:sp>
      <p:sp>
        <p:nvSpPr>
          <p:cNvPr id="14" name="sketch line">
            <a:extLst>
              <a:ext uri="{FF2B5EF4-FFF2-40B4-BE49-F238E27FC236}">
                <a16:creationId xmlns:a16="http://schemas.microsoft.com/office/drawing/2014/main" id="{59FA8C2E-A5A7-4490-927A-7CD58343E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566159" y="1353312"/>
            <a:ext cx="1554480" cy="18288"/>
          </a:xfrm>
          <a:custGeom>
            <a:avLst/>
            <a:gdLst>
              <a:gd name="csX0" fmla="*/ 0 w 1554480"/>
              <a:gd name="csY0" fmla="*/ 0 h 18288"/>
              <a:gd name="csX1" fmla="*/ 549250 w 1554480"/>
              <a:gd name="csY1" fmla="*/ 0 h 18288"/>
              <a:gd name="csX2" fmla="*/ 1082954 w 1554480"/>
              <a:gd name="csY2" fmla="*/ 0 h 18288"/>
              <a:gd name="csX3" fmla="*/ 1554480 w 1554480"/>
              <a:gd name="csY3" fmla="*/ 0 h 18288"/>
              <a:gd name="csX4" fmla="*/ 1554480 w 1554480"/>
              <a:gd name="csY4" fmla="*/ 18288 h 18288"/>
              <a:gd name="csX5" fmla="*/ 1067410 w 1554480"/>
              <a:gd name="csY5" fmla="*/ 18288 h 18288"/>
              <a:gd name="csX6" fmla="*/ 549250 w 1554480"/>
              <a:gd name="csY6" fmla="*/ 18288 h 18288"/>
              <a:gd name="csX7" fmla="*/ 0 w 1554480"/>
              <a:gd name="csY7" fmla="*/ 18288 h 18288"/>
              <a:gd name="csX8" fmla="*/ 0 w 1554480"/>
              <a:gd name="csY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1554480" h="18288" fill="none" extrusionOk="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4963" y="7176"/>
                  <a:pt x="1553909" y="13682"/>
                  <a:pt x="1554480" y="18288"/>
                </a:cubicBezTo>
                <a:cubicBezTo>
                  <a:pt x="1338847" y="6127"/>
                  <a:pt x="1215066" y="37851"/>
                  <a:pt x="1067410" y="18288"/>
                </a:cubicBezTo>
                <a:cubicBezTo>
                  <a:pt x="919754" y="-1275"/>
                  <a:pt x="800465" y="3080"/>
                  <a:pt x="549250" y="18288"/>
                </a:cubicBezTo>
                <a:cubicBezTo>
                  <a:pt x="298035" y="33496"/>
                  <a:pt x="158868" y="22769"/>
                  <a:pt x="0" y="18288"/>
                </a:cubicBezTo>
                <a:cubicBezTo>
                  <a:pt x="-655" y="13237"/>
                  <a:pt x="709" y="4645"/>
                  <a:pt x="0" y="0"/>
                </a:cubicBezTo>
                <a:close/>
              </a:path>
              <a:path w="1554480" h="18288" stroke="0" extrusionOk="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917" y="7222"/>
                  <a:pt x="1555359" y="13299"/>
                  <a:pt x="1554480" y="18288"/>
                </a:cubicBezTo>
                <a:cubicBezTo>
                  <a:pt x="1336087" y="12172"/>
                  <a:pt x="1310024" y="19759"/>
                  <a:pt x="1067410" y="18288"/>
                </a:cubicBezTo>
                <a:cubicBezTo>
                  <a:pt x="824796" y="16818"/>
                  <a:pt x="787902" y="34647"/>
                  <a:pt x="518160" y="18288"/>
                </a:cubicBezTo>
                <a:cubicBezTo>
                  <a:pt x="248418" y="1930"/>
                  <a:pt x="133160" y="9205"/>
                  <a:pt x="0" y="18288"/>
                </a:cubicBezTo>
                <a:cubicBezTo>
                  <a:pt x="-643" y="9451"/>
                  <a:pt x="-340" y="7114"/>
                  <a:pt x="0" y="0"/>
                </a:cubicBezTo>
                <a:close/>
              </a:path>
            </a:pathLst>
          </a:custGeom>
          <a:solidFill>
            <a:srgbClr val="FFFFFF"/>
          </a:solidFill>
          <a:ln w="41275" cap="rnd">
            <a:solidFill>
              <a:srgbClr val="FFFFFF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7F0173B-A7CD-D2E3-E8BD-765AC9450A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4462" y="630936"/>
            <a:ext cx="7074409" cy="1463040"/>
          </a:xfrm>
        </p:spPr>
        <p:txBody>
          <a:bodyPr anchor="ctr">
            <a:normAutofit/>
          </a:bodyPr>
          <a:lstStyle/>
          <a:p>
            <a:pPr>
              <a:buNone/>
            </a:pPr>
            <a:r>
              <a:rPr lang="en-US" sz="3200">
                <a:solidFill>
                  <a:schemeClr val="bg1"/>
                </a:solidFill>
              </a:rPr>
              <a:t>Experimental</a:t>
            </a:r>
            <a:r>
              <a:rPr lang="en-US" sz="3200" dirty="0">
                <a:solidFill>
                  <a:schemeClr val="bg1"/>
                </a:solidFill>
              </a:rPr>
              <a:t> Results</a:t>
            </a:r>
          </a:p>
        </p:txBody>
      </p:sp>
      <p:pic>
        <p:nvPicPr>
          <p:cNvPr id="3" name="Content Placeholder 2">
            <a:extLst>
              <a:ext uri="{FF2B5EF4-FFF2-40B4-BE49-F238E27FC236}">
                <a16:creationId xmlns:a16="http://schemas.microsoft.com/office/drawing/2014/main" id="{69EB010B-201D-5D15-B47F-87BE1604C2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" y="3415371"/>
            <a:ext cx="10917936" cy="21373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7949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7C23CE3-D4BA-14A0-B534-A0F1CBE74F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0"/>
            <a:ext cx="10287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02377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40725-7B35-B472-EC02-D38DB92CB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141FE24-92C1-EB6B-F09E-2F6C9086FE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5254" y="0"/>
            <a:ext cx="10301493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5135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11AD6A8-A5B3-5543-369D-BD037873D1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F1D0824E-411C-13C6-C330-ED7CA8C69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6802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7C1506-750E-0B3C-492D-89EBA6F82B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JP"/>
              <a:t>Analysis &amp; Interpretation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34A7855-B9C0-AC48-23A3-45361F0487E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7594054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8873D23-2DCF-4B31-A009-95721C06E8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3EF075-D4EF-4929-ADBC-91B27DA199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80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AA26DFA-AAB2-4973-9C17-16D587C7B1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1863" y="508838"/>
            <a:ext cx="5217958" cy="6239661"/>
            <a:chOff x="-19221" y="251144"/>
            <a:chExt cx="5217958" cy="6239661"/>
          </a:xfrm>
        </p:grpSpPr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3F407F11-7321-4BF6-8536-CCE8E34245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251144"/>
              <a:ext cx="5187198" cy="6239661"/>
            </a:xfrm>
            <a:custGeom>
              <a:avLst/>
              <a:gdLst>
                <a:gd name="connsiteX0" fmla="*/ 2011811 w 5187198"/>
                <a:gd name="connsiteY0" fmla="*/ 4 h 6239661"/>
                <a:gd name="connsiteX1" fmla="*/ 2617011 w 5187198"/>
                <a:gd name="connsiteY1" fmla="*/ 70590 h 6239661"/>
                <a:gd name="connsiteX2" fmla="*/ 2690321 w 5187198"/>
                <a:gd name="connsiteY2" fmla="*/ 88146 h 6239661"/>
                <a:gd name="connsiteX3" fmla="*/ 2726863 w 5187198"/>
                <a:gd name="connsiteY3" fmla="*/ 97127 h 6239661"/>
                <a:gd name="connsiteX4" fmla="*/ 2762951 w 5187198"/>
                <a:gd name="connsiteY4" fmla="*/ 107375 h 6239661"/>
                <a:gd name="connsiteX5" fmla="*/ 2834843 w 5187198"/>
                <a:gd name="connsiteY5" fmla="*/ 128493 h 6239661"/>
                <a:gd name="connsiteX6" fmla="*/ 2906574 w 5187198"/>
                <a:gd name="connsiteY6" fmla="*/ 151076 h 6239661"/>
                <a:gd name="connsiteX7" fmla="*/ 3049504 w 5187198"/>
                <a:gd name="connsiteY7" fmla="*/ 202124 h 6239661"/>
                <a:gd name="connsiteX8" fmla="*/ 3189518 w 5187198"/>
                <a:gd name="connsiteY8" fmla="*/ 260159 h 6239661"/>
                <a:gd name="connsiteX9" fmla="*/ 3326048 w 5187198"/>
                <a:gd name="connsiteY9" fmla="*/ 325143 h 6239661"/>
                <a:gd name="connsiteX10" fmla="*/ 3459166 w 5187198"/>
                <a:gd name="connsiteY10" fmla="*/ 395936 h 6239661"/>
                <a:gd name="connsiteX11" fmla="*/ 3588578 w 5187198"/>
                <a:gd name="connsiteY11" fmla="*/ 472343 h 6239661"/>
                <a:gd name="connsiteX12" fmla="*/ 3651864 w 5187198"/>
                <a:gd name="connsiteY12" fmla="*/ 512600 h 6239661"/>
                <a:gd name="connsiteX13" fmla="*/ 3714514 w 5187198"/>
                <a:gd name="connsiteY13" fmla="*/ 553499 h 6239661"/>
                <a:gd name="connsiteX14" fmla="*/ 4181221 w 5187198"/>
                <a:gd name="connsiteY14" fmla="*/ 922912 h 6239661"/>
                <a:gd name="connsiteX15" fmla="*/ 4582963 w 5187198"/>
                <a:gd name="connsiteY15" fmla="*/ 1358264 h 6239661"/>
                <a:gd name="connsiteX16" fmla="*/ 4670721 w 5187198"/>
                <a:gd name="connsiteY16" fmla="*/ 1477644 h 6239661"/>
                <a:gd name="connsiteX17" fmla="*/ 4752378 w 5187198"/>
                <a:gd name="connsiteY17" fmla="*/ 1601187 h 6239661"/>
                <a:gd name="connsiteX18" fmla="*/ 4772168 w 5187198"/>
                <a:gd name="connsiteY18" fmla="*/ 1632456 h 6239661"/>
                <a:gd name="connsiteX19" fmla="*/ 4782117 w 5187198"/>
                <a:gd name="connsiteY19" fmla="*/ 1648104 h 6239661"/>
                <a:gd name="connsiteX20" fmla="*/ 4791381 w 5187198"/>
                <a:gd name="connsiteY20" fmla="*/ 1664150 h 6239661"/>
                <a:gd name="connsiteX21" fmla="*/ 4828190 w 5187198"/>
                <a:gd name="connsiteY21" fmla="*/ 1728379 h 6239661"/>
                <a:gd name="connsiteX22" fmla="*/ 4864832 w 5187198"/>
                <a:gd name="connsiteY22" fmla="*/ 1792796 h 6239661"/>
                <a:gd name="connsiteX23" fmla="*/ 4899201 w 5187198"/>
                <a:gd name="connsiteY23" fmla="*/ 1858342 h 6239661"/>
                <a:gd name="connsiteX24" fmla="*/ 4933266 w 5187198"/>
                <a:gd name="connsiteY24" fmla="*/ 1924155 h 6239661"/>
                <a:gd name="connsiteX25" fmla="*/ 4964403 w 5187198"/>
                <a:gd name="connsiteY25" fmla="*/ 1991384 h 6239661"/>
                <a:gd name="connsiteX26" fmla="*/ 4995019 w 5187198"/>
                <a:gd name="connsiteY26" fmla="*/ 2058823 h 6239661"/>
                <a:gd name="connsiteX27" fmla="*/ 5021999 w 5187198"/>
                <a:gd name="connsiteY27" fmla="*/ 2127723 h 6239661"/>
                <a:gd name="connsiteX28" fmla="*/ 5048321 w 5187198"/>
                <a:gd name="connsiteY28" fmla="*/ 2196908 h 6239661"/>
                <a:gd name="connsiteX29" fmla="*/ 5070546 w 5187198"/>
                <a:gd name="connsiteY29" fmla="*/ 2267547 h 6239661"/>
                <a:gd name="connsiteX30" fmla="*/ 5092171 w 5187198"/>
                <a:gd name="connsiteY30" fmla="*/ 2338256 h 6239661"/>
                <a:gd name="connsiteX31" fmla="*/ 5110305 w 5187198"/>
                <a:gd name="connsiteY31" fmla="*/ 2409886 h 6239661"/>
                <a:gd name="connsiteX32" fmla="*/ 5186393 w 5187198"/>
                <a:gd name="connsiteY32" fmla="*/ 2992022 h 6239661"/>
                <a:gd name="connsiteX33" fmla="*/ 5149045 w 5187198"/>
                <a:gd name="connsiteY33" fmla="*/ 3571816 h 6239661"/>
                <a:gd name="connsiteX34" fmla="*/ 5126572 w 5187198"/>
                <a:gd name="connsiteY34" fmla="*/ 3714520 h 6239661"/>
                <a:gd name="connsiteX35" fmla="*/ 5099067 w 5187198"/>
                <a:gd name="connsiteY35" fmla="*/ 3856108 h 6239661"/>
                <a:gd name="connsiteX36" fmla="*/ 5095699 w 5187198"/>
                <a:gd name="connsiteY36" fmla="*/ 3873868 h 6239661"/>
                <a:gd name="connsiteX37" fmla="*/ 5091573 w 5187198"/>
                <a:gd name="connsiteY37" fmla="*/ 3891426 h 6239661"/>
                <a:gd name="connsiteX38" fmla="*/ 5083324 w 5187198"/>
                <a:gd name="connsiteY38" fmla="*/ 3926541 h 6239661"/>
                <a:gd name="connsiteX39" fmla="*/ 5067256 w 5187198"/>
                <a:gd name="connsiteY39" fmla="*/ 3996889 h 6239661"/>
                <a:gd name="connsiteX40" fmla="*/ 5059194 w 5187198"/>
                <a:gd name="connsiteY40" fmla="*/ 4032171 h 6239661"/>
                <a:gd name="connsiteX41" fmla="*/ 5049522 w 5187198"/>
                <a:gd name="connsiteY41" fmla="*/ 4067833 h 6239661"/>
                <a:gd name="connsiteX42" fmla="*/ 5040067 w 5187198"/>
                <a:gd name="connsiteY42" fmla="*/ 4103553 h 6239661"/>
                <a:gd name="connsiteX43" fmla="*/ 5028960 w 5187198"/>
                <a:gd name="connsiteY43" fmla="*/ 4138946 h 6239661"/>
                <a:gd name="connsiteX44" fmla="*/ 4917351 w 5187198"/>
                <a:gd name="connsiteY44" fmla="*/ 4417041 h 6239661"/>
                <a:gd name="connsiteX45" fmla="*/ 4756163 w 5187198"/>
                <a:gd name="connsiteY45" fmla="*/ 4676402 h 6239661"/>
                <a:gd name="connsiteX46" fmla="*/ 4322493 w 5187198"/>
                <a:gd name="connsiteY46" fmla="*/ 5105604 h 6239661"/>
                <a:gd name="connsiteX47" fmla="*/ 3840510 w 5187198"/>
                <a:gd name="connsiteY47" fmla="*/ 5429590 h 6239661"/>
                <a:gd name="connsiteX48" fmla="*/ 3606447 w 5187198"/>
                <a:gd name="connsiteY48" fmla="*/ 5572862 h 6239661"/>
                <a:gd name="connsiteX49" fmla="*/ 3488814 w 5187198"/>
                <a:gd name="connsiteY49" fmla="*/ 5647178 h 6239661"/>
                <a:gd name="connsiteX50" fmla="*/ 3365864 w 5187198"/>
                <a:gd name="connsiteY50" fmla="*/ 5722735 h 6239661"/>
                <a:gd name="connsiteX51" fmla="*/ 2839486 w 5187198"/>
                <a:gd name="connsiteY51" fmla="*/ 5999120 h 6239661"/>
                <a:gd name="connsiteX52" fmla="*/ 2242423 w 5187198"/>
                <a:gd name="connsiteY52" fmla="*/ 6192346 h 6239661"/>
                <a:gd name="connsiteX53" fmla="*/ 1589380 w 5187198"/>
                <a:gd name="connsiteY53" fmla="*/ 6230657 h 6239661"/>
                <a:gd name="connsiteX54" fmla="*/ 1548244 w 5187198"/>
                <a:gd name="connsiteY54" fmla="*/ 6226706 h 6239661"/>
                <a:gd name="connsiteX55" fmla="*/ 1507348 w 5187198"/>
                <a:gd name="connsiteY55" fmla="*/ 6221428 h 6239661"/>
                <a:gd name="connsiteX56" fmla="*/ 1466401 w 5187198"/>
                <a:gd name="connsiteY56" fmla="*/ 6215904 h 6239661"/>
                <a:gd name="connsiteX57" fmla="*/ 1425773 w 5187198"/>
                <a:gd name="connsiteY57" fmla="*/ 6209191 h 6239661"/>
                <a:gd name="connsiteX58" fmla="*/ 1344960 w 5187198"/>
                <a:gd name="connsiteY58" fmla="*/ 6193681 h 6239661"/>
                <a:gd name="connsiteX59" fmla="*/ 1265007 w 5187198"/>
                <a:gd name="connsiteY59" fmla="*/ 6175388 h 6239661"/>
                <a:gd name="connsiteX60" fmla="*/ 1225415 w 5187198"/>
                <a:gd name="connsiteY60" fmla="*/ 6165243 h 6239661"/>
                <a:gd name="connsiteX61" fmla="*/ 1186567 w 5187198"/>
                <a:gd name="connsiteY61" fmla="*/ 6154486 h 6239661"/>
                <a:gd name="connsiteX62" fmla="*/ 1111158 w 5187198"/>
                <a:gd name="connsiteY62" fmla="*/ 6130918 h 6239661"/>
                <a:gd name="connsiteX63" fmla="*/ 1035915 w 5187198"/>
                <a:gd name="connsiteY63" fmla="*/ 6107163 h 6239661"/>
                <a:gd name="connsiteX64" fmla="*/ 961579 w 5187198"/>
                <a:gd name="connsiteY64" fmla="*/ 6079594 h 6239661"/>
                <a:gd name="connsiteX65" fmla="*/ 395297 w 5187198"/>
                <a:gd name="connsiteY65" fmla="*/ 5792812 h 6239661"/>
                <a:gd name="connsiteX66" fmla="*/ 265239 w 5187198"/>
                <a:gd name="connsiteY66" fmla="*/ 5701511 h 6239661"/>
                <a:gd name="connsiteX67" fmla="*/ 233756 w 5187198"/>
                <a:gd name="connsiteY67" fmla="*/ 5677542 h 6239661"/>
                <a:gd name="connsiteX68" fmla="*/ 202800 w 5187198"/>
                <a:gd name="connsiteY68" fmla="*/ 5652902 h 6239661"/>
                <a:gd name="connsiteX69" fmla="*/ 140918 w 5187198"/>
                <a:gd name="connsiteY69" fmla="*/ 5603515 h 6239661"/>
                <a:gd name="connsiteX70" fmla="*/ 110625 w 5187198"/>
                <a:gd name="connsiteY70" fmla="*/ 5578127 h 6239661"/>
                <a:gd name="connsiteX71" fmla="*/ 95631 w 5187198"/>
                <a:gd name="connsiteY71" fmla="*/ 5565299 h 6239661"/>
                <a:gd name="connsiteX72" fmla="*/ 81966 w 5187198"/>
                <a:gd name="connsiteY72" fmla="*/ 5550973 h 6239661"/>
                <a:gd name="connsiteX73" fmla="*/ 27991 w 5187198"/>
                <a:gd name="connsiteY73" fmla="*/ 5493272 h 6239661"/>
                <a:gd name="connsiteX74" fmla="*/ 1454 w 5187198"/>
                <a:gd name="connsiteY74" fmla="*/ 5464252 h 6239661"/>
                <a:gd name="connsiteX75" fmla="*/ 0 w 5187198"/>
                <a:gd name="connsiteY75" fmla="*/ 5462518 h 6239661"/>
                <a:gd name="connsiteX76" fmla="*/ 0 w 5187198"/>
                <a:gd name="connsiteY76" fmla="*/ 4720187 h 6239661"/>
                <a:gd name="connsiteX77" fmla="*/ 109684 w 5187198"/>
                <a:gd name="connsiteY77" fmla="*/ 4836724 h 6239661"/>
                <a:gd name="connsiteX78" fmla="*/ 306959 w 5187198"/>
                <a:gd name="connsiteY78" fmla="*/ 5007200 h 6239661"/>
                <a:gd name="connsiteX79" fmla="*/ 358101 w 5187198"/>
                <a:gd name="connsiteY79" fmla="*/ 5046057 h 6239661"/>
                <a:gd name="connsiteX80" fmla="*/ 383328 w 5187198"/>
                <a:gd name="connsiteY80" fmla="*/ 5065684 h 6239661"/>
                <a:gd name="connsiteX81" fmla="*/ 409503 w 5187198"/>
                <a:gd name="connsiteY81" fmla="*/ 5083942 h 6239661"/>
                <a:gd name="connsiteX82" fmla="*/ 461889 w 5187198"/>
                <a:gd name="connsiteY82" fmla="*/ 5119888 h 6239661"/>
                <a:gd name="connsiteX83" fmla="*/ 474883 w 5187198"/>
                <a:gd name="connsiteY83" fmla="*/ 5128933 h 6239661"/>
                <a:gd name="connsiteX84" fmla="*/ 486410 w 5187198"/>
                <a:gd name="connsiteY84" fmla="*/ 5139557 h 6239661"/>
                <a:gd name="connsiteX85" fmla="*/ 510852 w 5187198"/>
                <a:gd name="connsiteY85" fmla="*/ 5159089 h 6239661"/>
                <a:gd name="connsiteX86" fmla="*/ 560653 w 5187198"/>
                <a:gd name="connsiteY86" fmla="*/ 5196893 h 6239661"/>
                <a:gd name="connsiteX87" fmla="*/ 585485 w 5187198"/>
                <a:gd name="connsiteY87" fmla="*/ 5215834 h 6239661"/>
                <a:gd name="connsiteX88" fmla="*/ 610707 w 5187198"/>
                <a:gd name="connsiteY88" fmla="*/ 5234185 h 6239661"/>
                <a:gd name="connsiteX89" fmla="*/ 714768 w 5187198"/>
                <a:gd name="connsiteY89" fmla="*/ 5303103 h 6239661"/>
                <a:gd name="connsiteX90" fmla="*/ 1166634 w 5187198"/>
                <a:gd name="connsiteY90" fmla="*/ 5513322 h 6239661"/>
                <a:gd name="connsiteX91" fmla="*/ 1225991 w 5187198"/>
                <a:gd name="connsiteY91" fmla="*/ 5533632 h 6239661"/>
                <a:gd name="connsiteX92" fmla="*/ 1286680 w 5187198"/>
                <a:gd name="connsiteY92" fmla="*/ 5550705 h 6239661"/>
                <a:gd name="connsiteX93" fmla="*/ 1347310 w 5187198"/>
                <a:gd name="connsiteY93" fmla="*/ 5567995 h 6239661"/>
                <a:gd name="connsiteX94" fmla="*/ 1377002 w 5187198"/>
                <a:gd name="connsiteY94" fmla="*/ 5575719 h 6239661"/>
                <a:gd name="connsiteX95" fmla="*/ 1406328 w 5187198"/>
                <a:gd name="connsiteY95" fmla="*/ 5582649 h 6239661"/>
                <a:gd name="connsiteX96" fmla="*/ 1465060 w 5187198"/>
                <a:gd name="connsiteY96" fmla="*/ 5594909 h 6239661"/>
                <a:gd name="connsiteX97" fmla="*/ 1523881 w 5187198"/>
                <a:gd name="connsiteY97" fmla="*/ 5605105 h 6239661"/>
                <a:gd name="connsiteX98" fmla="*/ 1553325 w 5187198"/>
                <a:gd name="connsiteY98" fmla="*/ 5609865 h 6239661"/>
                <a:gd name="connsiteX99" fmla="*/ 1582813 w 5187198"/>
                <a:gd name="connsiteY99" fmla="*/ 5613593 h 6239661"/>
                <a:gd name="connsiteX100" fmla="*/ 1612301 w 5187198"/>
                <a:gd name="connsiteY100" fmla="*/ 5617321 h 6239661"/>
                <a:gd name="connsiteX101" fmla="*/ 1641863 w 5187198"/>
                <a:gd name="connsiteY101" fmla="*/ 5619910 h 6239661"/>
                <a:gd name="connsiteX102" fmla="*/ 2117508 w 5187198"/>
                <a:gd name="connsiteY102" fmla="*/ 5595156 h 6239661"/>
                <a:gd name="connsiteX103" fmla="*/ 2597368 w 5187198"/>
                <a:gd name="connsiteY103" fmla="*/ 5447381 h 6239661"/>
                <a:gd name="connsiteX104" fmla="*/ 3082968 w 5187198"/>
                <a:gd name="connsiteY104" fmla="*/ 5223245 h 6239661"/>
                <a:gd name="connsiteX105" fmla="*/ 3334855 w 5187198"/>
                <a:gd name="connsiteY105" fmla="*/ 5097383 h 6239661"/>
                <a:gd name="connsiteX106" fmla="*/ 3599509 w 5187198"/>
                <a:gd name="connsiteY106" fmla="*/ 4976217 h 6239661"/>
                <a:gd name="connsiteX107" fmla="*/ 4112002 w 5187198"/>
                <a:gd name="connsiteY107" fmla="*/ 4766359 h 6239661"/>
                <a:gd name="connsiteX108" fmla="*/ 4348983 w 5187198"/>
                <a:gd name="connsiteY108" fmla="*/ 4649833 h 6239661"/>
                <a:gd name="connsiteX109" fmla="*/ 4560505 w 5187198"/>
                <a:gd name="connsiteY109" fmla="*/ 4501564 h 6239661"/>
                <a:gd name="connsiteX110" fmla="*/ 4731963 w 5187198"/>
                <a:gd name="connsiteY110" fmla="*/ 4309870 h 6239661"/>
                <a:gd name="connsiteX111" fmla="*/ 4852344 w 5187198"/>
                <a:gd name="connsiteY111" fmla="*/ 4078640 h 6239661"/>
                <a:gd name="connsiteX112" fmla="*/ 4863972 w 5187198"/>
                <a:gd name="connsiteY112" fmla="*/ 4047790 h 6239661"/>
                <a:gd name="connsiteX113" fmla="*/ 4874144 w 5187198"/>
                <a:gd name="connsiteY113" fmla="*/ 4016320 h 6239661"/>
                <a:gd name="connsiteX114" fmla="*/ 4884127 w 5187198"/>
                <a:gd name="connsiteY114" fmla="*/ 3984682 h 6239661"/>
                <a:gd name="connsiteX115" fmla="*/ 4892800 w 5187198"/>
                <a:gd name="connsiteY115" fmla="*/ 3951883 h 6239661"/>
                <a:gd name="connsiteX116" fmla="*/ 4909526 w 5187198"/>
                <a:gd name="connsiteY116" fmla="*/ 3886001 h 6239661"/>
                <a:gd name="connsiteX117" fmla="*/ 4917687 w 5187198"/>
                <a:gd name="connsiteY117" fmla="*/ 3852948 h 6239661"/>
                <a:gd name="connsiteX118" fmla="*/ 4921768 w 5187198"/>
                <a:gd name="connsiteY118" fmla="*/ 3836422 h 6239661"/>
                <a:gd name="connsiteX119" fmla="*/ 4924845 w 5187198"/>
                <a:gd name="connsiteY119" fmla="*/ 3819742 h 6239661"/>
                <a:gd name="connsiteX120" fmla="*/ 4948230 w 5187198"/>
                <a:gd name="connsiteY120" fmla="*/ 3685744 h 6239661"/>
                <a:gd name="connsiteX121" fmla="*/ 4962782 w 5187198"/>
                <a:gd name="connsiteY121" fmla="*/ 3550540 h 6239661"/>
                <a:gd name="connsiteX122" fmla="*/ 4939468 w 5187198"/>
                <a:gd name="connsiteY122" fmla="*/ 3010249 h 6239661"/>
                <a:gd name="connsiteX123" fmla="*/ 4816901 w 5187198"/>
                <a:gd name="connsiteY123" fmla="*/ 2488224 h 6239661"/>
                <a:gd name="connsiteX124" fmla="*/ 4797005 w 5187198"/>
                <a:gd name="connsiteY124" fmla="*/ 2424470 h 6239661"/>
                <a:gd name="connsiteX125" fmla="*/ 4774433 w 5187198"/>
                <a:gd name="connsiteY125" fmla="*/ 2361620 h 6239661"/>
                <a:gd name="connsiteX126" fmla="*/ 4752459 w 5187198"/>
                <a:gd name="connsiteY126" fmla="*/ 2298700 h 6239661"/>
                <a:gd name="connsiteX127" fmla="*/ 4728083 w 5187198"/>
                <a:gd name="connsiteY127" fmla="*/ 2236526 h 6239661"/>
                <a:gd name="connsiteX128" fmla="*/ 4704471 w 5187198"/>
                <a:gd name="connsiteY128" fmla="*/ 2174095 h 6239661"/>
                <a:gd name="connsiteX129" fmla="*/ 4678399 w 5187198"/>
                <a:gd name="connsiteY129" fmla="*/ 2112626 h 6239661"/>
                <a:gd name="connsiteX130" fmla="*/ 4652601 w 5187198"/>
                <a:gd name="connsiteY130" fmla="*/ 2050999 h 6239661"/>
                <a:gd name="connsiteX131" fmla="*/ 4624205 w 5187198"/>
                <a:gd name="connsiteY131" fmla="*/ 1990415 h 6239661"/>
                <a:gd name="connsiteX132" fmla="*/ 4595398 w 5187198"/>
                <a:gd name="connsiteY132" fmla="*/ 1930069 h 6239661"/>
                <a:gd name="connsiteX133" fmla="*/ 4563827 w 5187198"/>
                <a:gd name="connsiteY133" fmla="*/ 1870952 h 6239661"/>
                <a:gd name="connsiteX134" fmla="*/ 4531433 w 5187198"/>
                <a:gd name="connsiteY134" fmla="*/ 1812311 h 6239661"/>
                <a:gd name="connsiteX135" fmla="*/ 4523315 w 5187198"/>
                <a:gd name="connsiteY135" fmla="*/ 1797616 h 6239661"/>
                <a:gd name="connsiteX136" fmla="*/ 4514482 w 5187198"/>
                <a:gd name="connsiteY136" fmla="*/ 1783425 h 6239661"/>
                <a:gd name="connsiteX137" fmla="*/ 4496845 w 5187198"/>
                <a:gd name="connsiteY137" fmla="*/ 1754936 h 6239661"/>
                <a:gd name="connsiteX138" fmla="*/ 4461463 w 5187198"/>
                <a:gd name="connsiteY138" fmla="*/ 1697929 h 6239661"/>
                <a:gd name="connsiteX139" fmla="*/ 4452660 w 5187198"/>
                <a:gd name="connsiteY139" fmla="*/ 1683629 h 6239661"/>
                <a:gd name="connsiteX140" fmla="*/ 4443141 w 5187198"/>
                <a:gd name="connsiteY140" fmla="*/ 1669834 h 6239661"/>
                <a:gd name="connsiteX141" fmla="*/ 4424241 w 5187198"/>
                <a:gd name="connsiteY141" fmla="*/ 1642166 h 6239661"/>
                <a:gd name="connsiteX142" fmla="*/ 4346886 w 5187198"/>
                <a:gd name="connsiteY142" fmla="*/ 1532412 h 6239661"/>
                <a:gd name="connsiteX143" fmla="*/ 3985497 w 5187198"/>
                <a:gd name="connsiteY143" fmla="*/ 1134649 h 6239661"/>
                <a:gd name="connsiteX144" fmla="*/ 3545665 w 5187198"/>
                <a:gd name="connsiteY144" fmla="*/ 825877 h 6239661"/>
                <a:gd name="connsiteX145" fmla="*/ 3486190 w 5187198"/>
                <a:gd name="connsiteY145" fmla="*/ 794756 h 6239661"/>
                <a:gd name="connsiteX146" fmla="*/ 3426182 w 5187198"/>
                <a:gd name="connsiteY146" fmla="*/ 764765 h 6239661"/>
                <a:gd name="connsiteX147" fmla="*/ 3365044 w 5187198"/>
                <a:gd name="connsiteY147" fmla="*/ 737255 h 6239661"/>
                <a:gd name="connsiteX148" fmla="*/ 3334529 w 5187198"/>
                <a:gd name="connsiteY148" fmla="*/ 723514 h 6239661"/>
                <a:gd name="connsiteX149" fmla="*/ 3303733 w 5187198"/>
                <a:gd name="connsiteY149" fmla="*/ 710395 h 6239661"/>
                <a:gd name="connsiteX150" fmla="*/ 3179033 w 5187198"/>
                <a:gd name="connsiteY150" fmla="*/ 662259 h 6239661"/>
                <a:gd name="connsiteX151" fmla="*/ 3052408 w 5187198"/>
                <a:gd name="connsiteY151" fmla="*/ 620447 h 6239661"/>
                <a:gd name="connsiteX152" fmla="*/ 2924325 w 5187198"/>
                <a:gd name="connsiteY152" fmla="*/ 584505 h 6239661"/>
                <a:gd name="connsiteX153" fmla="*/ 2859667 w 5187198"/>
                <a:gd name="connsiteY153" fmla="*/ 569266 h 6239661"/>
                <a:gd name="connsiteX154" fmla="*/ 2795226 w 5187198"/>
                <a:gd name="connsiteY154" fmla="*/ 554085 h 6239661"/>
                <a:gd name="connsiteX155" fmla="*/ 2729702 w 5187198"/>
                <a:gd name="connsiteY155" fmla="*/ 540354 h 6239661"/>
                <a:gd name="connsiteX156" fmla="*/ 2663758 w 5187198"/>
                <a:gd name="connsiteY156" fmla="*/ 527322 h 6239661"/>
                <a:gd name="connsiteX157" fmla="*/ 2630927 w 5187198"/>
                <a:gd name="connsiteY157" fmla="*/ 520495 h 6239661"/>
                <a:gd name="connsiteX158" fmla="*/ 2597965 w 5187198"/>
                <a:gd name="connsiteY158" fmla="*/ 515024 h 6239661"/>
                <a:gd name="connsiteX159" fmla="*/ 2532205 w 5187198"/>
                <a:gd name="connsiteY159" fmla="*/ 503895 h 6239661"/>
                <a:gd name="connsiteX160" fmla="*/ 2010064 w 5187198"/>
                <a:gd name="connsiteY160" fmla="*/ 452552 h 6239661"/>
                <a:gd name="connsiteX161" fmla="*/ 1494552 w 5187198"/>
                <a:gd name="connsiteY161" fmla="*/ 485055 h 6239661"/>
                <a:gd name="connsiteX162" fmla="*/ 1366896 w 5187198"/>
                <a:gd name="connsiteY162" fmla="*/ 509389 h 6239661"/>
                <a:gd name="connsiteX163" fmla="*/ 1240175 w 5187198"/>
                <a:gd name="connsiteY163" fmla="*/ 541045 h 6239661"/>
                <a:gd name="connsiteX164" fmla="*/ 1177438 w 5187198"/>
                <a:gd name="connsiteY164" fmla="*/ 560170 h 6239661"/>
                <a:gd name="connsiteX165" fmla="*/ 1145987 w 5187198"/>
                <a:gd name="connsiteY165" fmla="*/ 569826 h 6239661"/>
                <a:gd name="connsiteX166" fmla="*/ 1130315 w 5187198"/>
                <a:gd name="connsiteY166" fmla="*/ 574669 h 6239661"/>
                <a:gd name="connsiteX167" fmla="*/ 1114873 w 5187198"/>
                <a:gd name="connsiteY167" fmla="*/ 580384 h 6239661"/>
                <a:gd name="connsiteX168" fmla="*/ 1052839 w 5187198"/>
                <a:gd name="connsiteY168" fmla="*/ 602943 h 6239661"/>
                <a:gd name="connsiteX169" fmla="*/ 991135 w 5187198"/>
                <a:gd name="connsiteY169" fmla="*/ 626866 h 6239661"/>
                <a:gd name="connsiteX170" fmla="*/ 930179 w 5187198"/>
                <a:gd name="connsiteY170" fmla="*/ 653191 h 6239661"/>
                <a:gd name="connsiteX171" fmla="*/ 869768 w 5187198"/>
                <a:gd name="connsiteY171" fmla="*/ 680937 h 6239661"/>
                <a:gd name="connsiteX172" fmla="*/ 810085 w 5187198"/>
                <a:gd name="connsiteY172" fmla="*/ 710734 h 6239661"/>
                <a:gd name="connsiteX173" fmla="*/ 751220 w 5187198"/>
                <a:gd name="connsiteY173" fmla="*/ 741794 h 6239661"/>
                <a:gd name="connsiteX174" fmla="*/ 532669 w 5187198"/>
                <a:gd name="connsiteY174" fmla="*/ 881688 h 6239661"/>
                <a:gd name="connsiteX175" fmla="*/ 354185 w 5187198"/>
                <a:gd name="connsiteY175" fmla="*/ 1050286 h 6239661"/>
                <a:gd name="connsiteX176" fmla="*/ 315980 w 5187198"/>
                <a:gd name="connsiteY176" fmla="*/ 1098125 h 6239661"/>
                <a:gd name="connsiteX177" fmla="*/ 280345 w 5187198"/>
                <a:gd name="connsiteY177" fmla="*/ 1149782 h 6239661"/>
                <a:gd name="connsiteX178" fmla="*/ 245890 w 5187198"/>
                <a:gd name="connsiteY178" fmla="*/ 1203959 h 6239661"/>
                <a:gd name="connsiteX179" fmla="*/ 212162 w 5187198"/>
                <a:gd name="connsiteY179" fmla="*/ 1260184 h 6239661"/>
                <a:gd name="connsiteX180" fmla="*/ 80716 w 5187198"/>
                <a:gd name="connsiteY180" fmla="*/ 1502476 h 6239661"/>
                <a:gd name="connsiteX181" fmla="*/ 0 w 5187198"/>
                <a:gd name="connsiteY181" fmla="*/ 1648841 h 6239661"/>
                <a:gd name="connsiteX182" fmla="*/ 0 w 5187198"/>
                <a:gd name="connsiteY182" fmla="*/ 954863 h 6239661"/>
                <a:gd name="connsiteX183" fmla="*/ 43491 w 5187198"/>
                <a:gd name="connsiteY183" fmla="*/ 895513 h 6239661"/>
                <a:gd name="connsiteX184" fmla="*/ 93923 w 5187198"/>
                <a:gd name="connsiteY184" fmla="*/ 834489 h 6239661"/>
                <a:gd name="connsiteX185" fmla="*/ 323465 w 5187198"/>
                <a:gd name="connsiteY185" fmla="*/ 617671 h 6239661"/>
                <a:gd name="connsiteX186" fmla="*/ 574777 w 5187198"/>
                <a:gd name="connsiteY186" fmla="*/ 446794 h 6239661"/>
                <a:gd name="connsiteX187" fmla="*/ 638943 w 5187198"/>
                <a:gd name="connsiteY187" fmla="*/ 408925 h 6239661"/>
                <a:gd name="connsiteX188" fmla="*/ 703505 w 5187198"/>
                <a:gd name="connsiteY188" fmla="*/ 371742 h 6239661"/>
                <a:gd name="connsiteX189" fmla="*/ 769262 w 5187198"/>
                <a:gd name="connsiteY189" fmla="*/ 336154 h 6239661"/>
                <a:gd name="connsiteX190" fmla="*/ 835552 w 5187198"/>
                <a:gd name="connsiteY190" fmla="*/ 301173 h 6239661"/>
                <a:gd name="connsiteX191" fmla="*/ 902979 w 5187198"/>
                <a:gd name="connsiteY191" fmla="*/ 268004 h 6239661"/>
                <a:gd name="connsiteX192" fmla="*/ 971127 w 5187198"/>
                <a:gd name="connsiteY192" fmla="*/ 235607 h 6239661"/>
                <a:gd name="connsiteX193" fmla="*/ 988238 w 5187198"/>
                <a:gd name="connsiteY193" fmla="*/ 227556 h 6239661"/>
                <a:gd name="connsiteX194" fmla="*/ 1005744 w 5187198"/>
                <a:gd name="connsiteY194" fmla="*/ 220191 h 6239661"/>
                <a:gd name="connsiteX195" fmla="*/ 1040729 w 5187198"/>
                <a:gd name="connsiteY195" fmla="*/ 205569 h 6239661"/>
                <a:gd name="connsiteX196" fmla="*/ 1110835 w 5187198"/>
                <a:gd name="connsiteY196" fmla="*/ 176248 h 6239661"/>
                <a:gd name="connsiteX197" fmla="*/ 1254256 w 5187198"/>
                <a:gd name="connsiteY197" fmla="*/ 123796 h 6239661"/>
                <a:gd name="connsiteX198" fmla="*/ 1401310 w 5187198"/>
                <a:gd name="connsiteY198" fmla="*/ 79852 h 6239661"/>
                <a:gd name="connsiteX199" fmla="*/ 2011811 w 5187198"/>
                <a:gd name="connsiteY199" fmla="*/ 4 h 62396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</a:cxnLst>
              <a:rect l="l" t="t" r="r" b="b"/>
              <a:pathLst>
                <a:path w="5187198" h="6239661">
                  <a:moveTo>
                    <a:pt x="2011811" y="4"/>
                  </a:moveTo>
                  <a:cubicBezTo>
                    <a:pt x="2217306" y="120"/>
                    <a:pt x="2420903" y="25925"/>
                    <a:pt x="2617011" y="70590"/>
                  </a:cubicBezTo>
                  <a:lnTo>
                    <a:pt x="2690321" y="88146"/>
                  </a:lnTo>
                  <a:lnTo>
                    <a:pt x="2726863" y="97127"/>
                  </a:lnTo>
                  <a:lnTo>
                    <a:pt x="2762951" y="107375"/>
                  </a:lnTo>
                  <a:lnTo>
                    <a:pt x="2834843" y="128493"/>
                  </a:lnTo>
                  <a:cubicBezTo>
                    <a:pt x="2858788" y="135605"/>
                    <a:pt x="2882632" y="142226"/>
                    <a:pt x="2906574" y="151076"/>
                  </a:cubicBezTo>
                  <a:cubicBezTo>
                    <a:pt x="2954475" y="167852"/>
                    <a:pt x="3002363" y="183813"/>
                    <a:pt x="3049504" y="202124"/>
                  </a:cubicBezTo>
                  <a:lnTo>
                    <a:pt x="3189518" y="260159"/>
                  </a:lnTo>
                  <a:lnTo>
                    <a:pt x="3326048" y="325143"/>
                  </a:lnTo>
                  <a:cubicBezTo>
                    <a:pt x="3370687" y="348464"/>
                    <a:pt x="3414908" y="372485"/>
                    <a:pt x="3459166" y="395936"/>
                  </a:cubicBezTo>
                  <a:cubicBezTo>
                    <a:pt x="3502947" y="420302"/>
                    <a:pt x="3545491" y="447118"/>
                    <a:pt x="3588578" y="472343"/>
                  </a:cubicBezTo>
                  <a:cubicBezTo>
                    <a:pt x="3610346" y="484551"/>
                    <a:pt x="3630797" y="499072"/>
                    <a:pt x="3651864" y="512600"/>
                  </a:cubicBezTo>
                  <a:lnTo>
                    <a:pt x="3714514" y="553499"/>
                  </a:lnTo>
                  <a:cubicBezTo>
                    <a:pt x="3880005" y="664844"/>
                    <a:pt x="4036083" y="788388"/>
                    <a:pt x="4181221" y="922912"/>
                  </a:cubicBezTo>
                  <a:cubicBezTo>
                    <a:pt x="4326221" y="1057515"/>
                    <a:pt x="4461955" y="1202038"/>
                    <a:pt x="4582963" y="1358264"/>
                  </a:cubicBezTo>
                  <a:cubicBezTo>
                    <a:pt x="4614206" y="1396543"/>
                    <a:pt x="4642091" y="1437400"/>
                    <a:pt x="4670721" y="1477644"/>
                  </a:cubicBezTo>
                  <a:cubicBezTo>
                    <a:pt x="4700172" y="1517414"/>
                    <a:pt x="4725864" y="1559538"/>
                    <a:pt x="4752378" y="1601187"/>
                  </a:cubicBezTo>
                  <a:lnTo>
                    <a:pt x="4772168" y="1632456"/>
                  </a:lnTo>
                  <a:lnTo>
                    <a:pt x="4782117" y="1648104"/>
                  </a:lnTo>
                  <a:lnTo>
                    <a:pt x="4791381" y="1664150"/>
                  </a:lnTo>
                  <a:lnTo>
                    <a:pt x="4828190" y="1728379"/>
                  </a:lnTo>
                  <a:cubicBezTo>
                    <a:pt x="4840266" y="1749930"/>
                    <a:pt x="4853470" y="1770740"/>
                    <a:pt x="4864832" y="1792796"/>
                  </a:cubicBezTo>
                  <a:lnTo>
                    <a:pt x="4899201" y="1858342"/>
                  </a:lnTo>
                  <a:cubicBezTo>
                    <a:pt x="4910484" y="1880260"/>
                    <a:pt x="4922532" y="1901920"/>
                    <a:pt x="4933266" y="1924155"/>
                  </a:cubicBezTo>
                  <a:lnTo>
                    <a:pt x="4964403" y="1991384"/>
                  </a:lnTo>
                  <a:cubicBezTo>
                    <a:pt x="4974618" y="2013829"/>
                    <a:pt x="4985323" y="2036171"/>
                    <a:pt x="4995019" y="2058823"/>
                  </a:cubicBezTo>
                  <a:lnTo>
                    <a:pt x="5021999" y="2127723"/>
                  </a:lnTo>
                  <a:lnTo>
                    <a:pt x="5048321" y="2196908"/>
                  </a:lnTo>
                  <a:lnTo>
                    <a:pt x="5070546" y="2267547"/>
                  </a:lnTo>
                  <a:cubicBezTo>
                    <a:pt x="5078054" y="2291004"/>
                    <a:pt x="5085044" y="2314670"/>
                    <a:pt x="5092171" y="2338256"/>
                  </a:cubicBezTo>
                  <a:cubicBezTo>
                    <a:pt x="5098670" y="2362023"/>
                    <a:pt x="5104296" y="2386019"/>
                    <a:pt x="5110305" y="2409886"/>
                  </a:cubicBezTo>
                  <a:cubicBezTo>
                    <a:pt x="5158097" y="2600976"/>
                    <a:pt x="5182068" y="2797044"/>
                    <a:pt x="5186393" y="2992022"/>
                  </a:cubicBezTo>
                  <a:cubicBezTo>
                    <a:pt x="5191013" y="3187195"/>
                    <a:pt x="5175397" y="3380886"/>
                    <a:pt x="5149045" y="3571816"/>
                  </a:cubicBezTo>
                  <a:cubicBezTo>
                    <a:pt x="5141154" y="3619431"/>
                    <a:pt x="5133539" y="3666889"/>
                    <a:pt x="5126572" y="3714520"/>
                  </a:cubicBezTo>
                  <a:cubicBezTo>
                    <a:pt x="5117276" y="3761759"/>
                    <a:pt x="5107793" y="3808831"/>
                    <a:pt x="5099067" y="3856108"/>
                  </a:cubicBezTo>
                  <a:lnTo>
                    <a:pt x="5095699" y="3873868"/>
                  </a:lnTo>
                  <a:lnTo>
                    <a:pt x="5091573" y="3891426"/>
                  </a:lnTo>
                  <a:lnTo>
                    <a:pt x="5083324" y="3926541"/>
                  </a:lnTo>
                  <a:lnTo>
                    <a:pt x="5067256" y="3996889"/>
                  </a:lnTo>
                  <a:cubicBezTo>
                    <a:pt x="5064451" y="4008657"/>
                    <a:pt x="5062244" y="4020353"/>
                    <a:pt x="5059194" y="4032171"/>
                  </a:cubicBezTo>
                  <a:lnTo>
                    <a:pt x="5049522" y="4067833"/>
                  </a:lnTo>
                  <a:lnTo>
                    <a:pt x="5040067" y="4103553"/>
                  </a:lnTo>
                  <a:cubicBezTo>
                    <a:pt x="5036554" y="4115363"/>
                    <a:pt x="5032689" y="4127194"/>
                    <a:pt x="5028960" y="4138946"/>
                  </a:cubicBezTo>
                  <a:cubicBezTo>
                    <a:pt x="4999693" y="4233462"/>
                    <a:pt x="4962869" y="4326764"/>
                    <a:pt x="4917351" y="4417041"/>
                  </a:cubicBezTo>
                  <a:cubicBezTo>
                    <a:pt x="4871860" y="4507209"/>
                    <a:pt x="4817597" y="4594215"/>
                    <a:pt x="4756163" y="4676402"/>
                  </a:cubicBezTo>
                  <a:cubicBezTo>
                    <a:pt x="4632803" y="4840875"/>
                    <a:pt x="4480597" y="4982783"/>
                    <a:pt x="4322493" y="5105604"/>
                  </a:cubicBezTo>
                  <a:cubicBezTo>
                    <a:pt x="4163928" y="5228420"/>
                    <a:pt x="3999564" y="5332640"/>
                    <a:pt x="3840510" y="5429590"/>
                  </a:cubicBezTo>
                  <a:cubicBezTo>
                    <a:pt x="3760954" y="5478172"/>
                    <a:pt x="3682353" y="5524924"/>
                    <a:pt x="3606447" y="5572862"/>
                  </a:cubicBezTo>
                  <a:lnTo>
                    <a:pt x="3488814" y="5647178"/>
                  </a:lnTo>
                  <a:cubicBezTo>
                    <a:pt x="3448270" y="5672597"/>
                    <a:pt x="3407323" y="5697792"/>
                    <a:pt x="3365864" y="5722735"/>
                  </a:cubicBezTo>
                  <a:cubicBezTo>
                    <a:pt x="3200163" y="5822424"/>
                    <a:pt x="3026125" y="5917328"/>
                    <a:pt x="2839486" y="5999120"/>
                  </a:cubicBezTo>
                  <a:cubicBezTo>
                    <a:pt x="2653201" y="6080891"/>
                    <a:pt x="2453560" y="6149344"/>
                    <a:pt x="2242423" y="6192346"/>
                  </a:cubicBezTo>
                  <a:cubicBezTo>
                    <a:pt x="2031719" y="6235463"/>
                    <a:pt x="1808952" y="6251353"/>
                    <a:pt x="1589380" y="6230657"/>
                  </a:cubicBezTo>
                  <a:lnTo>
                    <a:pt x="1548244" y="6226706"/>
                  </a:lnTo>
                  <a:cubicBezTo>
                    <a:pt x="1534528" y="6225117"/>
                    <a:pt x="1520898" y="6223203"/>
                    <a:pt x="1507348" y="6221428"/>
                  </a:cubicBezTo>
                  <a:lnTo>
                    <a:pt x="1466401" y="6215904"/>
                  </a:lnTo>
                  <a:cubicBezTo>
                    <a:pt x="1452772" y="6213991"/>
                    <a:pt x="1439316" y="6211428"/>
                    <a:pt x="1425773" y="6209191"/>
                  </a:cubicBezTo>
                  <a:cubicBezTo>
                    <a:pt x="1398775" y="6204391"/>
                    <a:pt x="1371610" y="6199779"/>
                    <a:pt x="1344960" y="6193681"/>
                  </a:cubicBezTo>
                  <a:cubicBezTo>
                    <a:pt x="1318251" y="6187799"/>
                    <a:pt x="1291260" y="6182538"/>
                    <a:pt x="1265007" y="6175388"/>
                  </a:cubicBezTo>
                  <a:lnTo>
                    <a:pt x="1225415" y="6165243"/>
                  </a:lnTo>
                  <a:cubicBezTo>
                    <a:pt x="1212163" y="6161924"/>
                    <a:pt x="1198939" y="6158496"/>
                    <a:pt x="1186567" y="6154486"/>
                  </a:cubicBezTo>
                  <a:lnTo>
                    <a:pt x="1111158" y="6130918"/>
                  </a:lnTo>
                  <a:lnTo>
                    <a:pt x="1035915" y="6107163"/>
                  </a:lnTo>
                  <a:cubicBezTo>
                    <a:pt x="1010846" y="6099055"/>
                    <a:pt x="986357" y="6088784"/>
                    <a:pt x="961579" y="6079594"/>
                  </a:cubicBezTo>
                  <a:cubicBezTo>
                    <a:pt x="763709" y="6005594"/>
                    <a:pt x="572401" y="5909703"/>
                    <a:pt x="395297" y="5792812"/>
                  </a:cubicBezTo>
                  <a:lnTo>
                    <a:pt x="265239" y="5701511"/>
                  </a:lnTo>
                  <a:cubicBezTo>
                    <a:pt x="254227" y="5694155"/>
                    <a:pt x="244103" y="5685646"/>
                    <a:pt x="233756" y="5677542"/>
                  </a:cubicBezTo>
                  <a:lnTo>
                    <a:pt x="202800" y="5652902"/>
                  </a:lnTo>
                  <a:lnTo>
                    <a:pt x="140918" y="5603515"/>
                  </a:lnTo>
                  <a:cubicBezTo>
                    <a:pt x="130598" y="5595302"/>
                    <a:pt x="120280" y="5587089"/>
                    <a:pt x="110625" y="5578127"/>
                  </a:cubicBezTo>
                  <a:cubicBezTo>
                    <a:pt x="105647" y="5573779"/>
                    <a:pt x="100444" y="5569834"/>
                    <a:pt x="95631" y="5565299"/>
                  </a:cubicBezTo>
                  <a:cubicBezTo>
                    <a:pt x="90955" y="5560684"/>
                    <a:pt x="86505" y="5555666"/>
                    <a:pt x="81966" y="5550973"/>
                  </a:cubicBezTo>
                  <a:lnTo>
                    <a:pt x="27991" y="5493272"/>
                  </a:lnTo>
                  <a:cubicBezTo>
                    <a:pt x="19109" y="5483589"/>
                    <a:pt x="9758" y="5474359"/>
                    <a:pt x="1454" y="5464252"/>
                  </a:cubicBezTo>
                  <a:lnTo>
                    <a:pt x="0" y="5462518"/>
                  </a:lnTo>
                  <a:lnTo>
                    <a:pt x="0" y="4720187"/>
                  </a:lnTo>
                  <a:lnTo>
                    <a:pt x="109684" y="4836724"/>
                  </a:lnTo>
                  <a:cubicBezTo>
                    <a:pt x="173316" y="4897375"/>
                    <a:pt x="239447" y="4954160"/>
                    <a:pt x="306959" y="5007200"/>
                  </a:cubicBezTo>
                  <a:lnTo>
                    <a:pt x="358101" y="5046057"/>
                  </a:lnTo>
                  <a:lnTo>
                    <a:pt x="383328" y="5065684"/>
                  </a:lnTo>
                  <a:cubicBezTo>
                    <a:pt x="391637" y="5072316"/>
                    <a:pt x="400805" y="5077902"/>
                    <a:pt x="409503" y="5083942"/>
                  </a:cubicBezTo>
                  <a:lnTo>
                    <a:pt x="461889" y="5119888"/>
                  </a:lnTo>
                  <a:cubicBezTo>
                    <a:pt x="466184" y="5122893"/>
                    <a:pt x="470616" y="5125820"/>
                    <a:pt x="474883" y="5128933"/>
                  </a:cubicBezTo>
                  <a:cubicBezTo>
                    <a:pt x="478982" y="5132235"/>
                    <a:pt x="482476" y="5136069"/>
                    <a:pt x="486410" y="5139557"/>
                  </a:cubicBezTo>
                  <a:cubicBezTo>
                    <a:pt x="494140" y="5146613"/>
                    <a:pt x="502565" y="5152812"/>
                    <a:pt x="510852" y="5159089"/>
                  </a:cubicBezTo>
                  <a:lnTo>
                    <a:pt x="560653" y="5196893"/>
                  </a:lnTo>
                  <a:lnTo>
                    <a:pt x="585485" y="5215834"/>
                  </a:lnTo>
                  <a:cubicBezTo>
                    <a:pt x="593773" y="5222111"/>
                    <a:pt x="601864" y="5228685"/>
                    <a:pt x="610707" y="5234185"/>
                  </a:cubicBezTo>
                  <a:lnTo>
                    <a:pt x="714768" y="5303103"/>
                  </a:lnTo>
                  <a:cubicBezTo>
                    <a:pt x="856162" y="5390603"/>
                    <a:pt x="1008099" y="5459947"/>
                    <a:pt x="1166634" y="5513322"/>
                  </a:cubicBezTo>
                  <a:cubicBezTo>
                    <a:pt x="1186540" y="5519932"/>
                    <a:pt x="1205774" y="5527751"/>
                    <a:pt x="1225991" y="5533632"/>
                  </a:cubicBezTo>
                  <a:lnTo>
                    <a:pt x="1286680" y="5550705"/>
                  </a:lnTo>
                  <a:lnTo>
                    <a:pt x="1347310" y="5567995"/>
                  </a:lnTo>
                  <a:cubicBezTo>
                    <a:pt x="1357469" y="5571180"/>
                    <a:pt x="1367261" y="5573572"/>
                    <a:pt x="1377002" y="5575719"/>
                  </a:cubicBezTo>
                  <a:lnTo>
                    <a:pt x="1406328" y="5582649"/>
                  </a:lnTo>
                  <a:cubicBezTo>
                    <a:pt x="1425825" y="5587757"/>
                    <a:pt x="1445490" y="5590939"/>
                    <a:pt x="1465060" y="5594909"/>
                  </a:cubicBezTo>
                  <a:cubicBezTo>
                    <a:pt x="1484652" y="5599231"/>
                    <a:pt x="1504324" y="5601952"/>
                    <a:pt x="1523881" y="5605105"/>
                  </a:cubicBezTo>
                  <a:cubicBezTo>
                    <a:pt x="1533660" y="5606682"/>
                    <a:pt x="1543460" y="5608613"/>
                    <a:pt x="1553325" y="5609865"/>
                  </a:cubicBezTo>
                  <a:lnTo>
                    <a:pt x="1582813" y="5613593"/>
                  </a:lnTo>
                  <a:lnTo>
                    <a:pt x="1612301" y="5617321"/>
                  </a:lnTo>
                  <a:lnTo>
                    <a:pt x="1641863" y="5619910"/>
                  </a:lnTo>
                  <a:cubicBezTo>
                    <a:pt x="1799348" y="5633940"/>
                    <a:pt x="1957913" y="5625770"/>
                    <a:pt x="2117508" y="5595156"/>
                  </a:cubicBezTo>
                  <a:cubicBezTo>
                    <a:pt x="2277124" y="5564895"/>
                    <a:pt x="2437004" y="5512449"/>
                    <a:pt x="2597368" y="5447381"/>
                  </a:cubicBezTo>
                  <a:cubicBezTo>
                    <a:pt x="2757791" y="5382096"/>
                    <a:pt x="2918855" y="5304464"/>
                    <a:pt x="3082968" y="5223245"/>
                  </a:cubicBezTo>
                  <a:lnTo>
                    <a:pt x="3334855" y="5097383"/>
                  </a:lnTo>
                  <a:cubicBezTo>
                    <a:pt x="3423528" y="5054142"/>
                    <a:pt x="3511773" y="5013798"/>
                    <a:pt x="3599509" y="4976217"/>
                  </a:cubicBezTo>
                  <a:cubicBezTo>
                    <a:pt x="3774960" y="4900701"/>
                    <a:pt x="3948276" y="4837481"/>
                    <a:pt x="4112002" y="4766359"/>
                  </a:cubicBezTo>
                  <a:cubicBezTo>
                    <a:pt x="4193972" y="4730827"/>
                    <a:pt x="4273429" y="4692997"/>
                    <a:pt x="4348983" y="4649833"/>
                  </a:cubicBezTo>
                  <a:cubicBezTo>
                    <a:pt x="4424508" y="4606778"/>
                    <a:pt x="4496050" y="4558250"/>
                    <a:pt x="4560505" y="4501564"/>
                  </a:cubicBezTo>
                  <a:cubicBezTo>
                    <a:pt x="4625198" y="4445289"/>
                    <a:pt x="4682991" y="4381021"/>
                    <a:pt x="4731963" y="4309870"/>
                  </a:cubicBezTo>
                  <a:cubicBezTo>
                    <a:pt x="4781043" y="4238747"/>
                    <a:pt x="4821275" y="4160848"/>
                    <a:pt x="4852344" y="4078640"/>
                  </a:cubicBezTo>
                  <a:lnTo>
                    <a:pt x="4863972" y="4047790"/>
                  </a:lnTo>
                  <a:lnTo>
                    <a:pt x="4874144" y="4016320"/>
                  </a:lnTo>
                  <a:lnTo>
                    <a:pt x="4884127" y="3984682"/>
                  </a:lnTo>
                  <a:cubicBezTo>
                    <a:pt x="4887242" y="3973925"/>
                    <a:pt x="4889981" y="3962835"/>
                    <a:pt x="4892800" y="3951883"/>
                  </a:cubicBezTo>
                  <a:lnTo>
                    <a:pt x="4909526" y="3886001"/>
                  </a:lnTo>
                  <a:lnTo>
                    <a:pt x="4917687" y="3852948"/>
                  </a:lnTo>
                  <a:lnTo>
                    <a:pt x="4921768" y="3836422"/>
                  </a:lnTo>
                  <a:lnTo>
                    <a:pt x="4924845" y="3819742"/>
                  </a:lnTo>
                  <a:cubicBezTo>
                    <a:pt x="4933092" y="3775120"/>
                    <a:pt x="4941231" y="3730469"/>
                    <a:pt x="4948230" y="3685744"/>
                  </a:cubicBezTo>
                  <a:cubicBezTo>
                    <a:pt x="4953579" y="3640694"/>
                    <a:pt x="4958249" y="3595577"/>
                    <a:pt x="4962782" y="3550540"/>
                  </a:cubicBezTo>
                  <a:cubicBezTo>
                    <a:pt x="4976580" y="3369692"/>
                    <a:pt x="4965812" y="3187942"/>
                    <a:pt x="4939468" y="3010249"/>
                  </a:cubicBezTo>
                  <a:cubicBezTo>
                    <a:pt x="4912965" y="2832281"/>
                    <a:pt x="4870237" y="2658196"/>
                    <a:pt x="4816901" y="2488224"/>
                  </a:cubicBezTo>
                  <a:cubicBezTo>
                    <a:pt x="4810197" y="2466954"/>
                    <a:pt x="4803984" y="2445582"/>
                    <a:pt x="4797005" y="2424470"/>
                  </a:cubicBezTo>
                  <a:cubicBezTo>
                    <a:pt x="4789399" y="2403537"/>
                    <a:pt x="4781686" y="2382574"/>
                    <a:pt x="4774433" y="2361620"/>
                  </a:cubicBezTo>
                  <a:lnTo>
                    <a:pt x="4752459" y="2298700"/>
                  </a:lnTo>
                  <a:lnTo>
                    <a:pt x="4728083" y="2236526"/>
                  </a:lnTo>
                  <a:cubicBezTo>
                    <a:pt x="4719957" y="2215802"/>
                    <a:pt x="4712352" y="2194869"/>
                    <a:pt x="4704471" y="2174095"/>
                  </a:cubicBezTo>
                  <a:lnTo>
                    <a:pt x="4678399" y="2112626"/>
                  </a:lnTo>
                  <a:lnTo>
                    <a:pt x="4652601" y="2050999"/>
                  </a:lnTo>
                  <a:cubicBezTo>
                    <a:pt x="4643711" y="2030533"/>
                    <a:pt x="4633616" y="2010672"/>
                    <a:pt x="4624205" y="1990415"/>
                  </a:cubicBezTo>
                  <a:lnTo>
                    <a:pt x="4595398" y="1930069"/>
                  </a:lnTo>
                  <a:cubicBezTo>
                    <a:pt x="4585714" y="1909969"/>
                    <a:pt x="4574413" y="1890713"/>
                    <a:pt x="4563827" y="1870952"/>
                  </a:cubicBezTo>
                  <a:lnTo>
                    <a:pt x="4531433" y="1812311"/>
                  </a:lnTo>
                  <a:lnTo>
                    <a:pt x="4523315" y="1797616"/>
                  </a:lnTo>
                  <a:lnTo>
                    <a:pt x="4514482" y="1783425"/>
                  </a:lnTo>
                  <a:lnTo>
                    <a:pt x="4496845" y="1754936"/>
                  </a:lnTo>
                  <a:lnTo>
                    <a:pt x="4461463" y="1697929"/>
                  </a:lnTo>
                  <a:lnTo>
                    <a:pt x="4452660" y="1683629"/>
                  </a:lnTo>
                  <a:lnTo>
                    <a:pt x="4443141" y="1669834"/>
                  </a:lnTo>
                  <a:lnTo>
                    <a:pt x="4424241" y="1642166"/>
                  </a:lnTo>
                  <a:cubicBezTo>
                    <a:pt x="4399005" y="1605265"/>
                    <a:pt x="4374512" y="1567751"/>
                    <a:pt x="4346886" y="1532412"/>
                  </a:cubicBezTo>
                  <a:cubicBezTo>
                    <a:pt x="4240477" y="1388328"/>
                    <a:pt x="4120362" y="1253437"/>
                    <a:pt x="3985497" y="1134649"/>
                  </a:cubicBezTo>
                  <a:cubicBezTo>
                    <a:pt x="3850799" y="1015675"/>
                    <a:pt x="3702920" y="911715"/>
                    <a:pt x="3545665" y="825877"/>
                  </a:cubicBezTo>
                  <a:lnTo>
                    <a:pt x="3486190" y="794756"/>
                  </a:lnTo>
                  <a:cubicBezTo>
                    <a:pt x="3466181" y="784640"/>
                    <a:pt x="3446893" y="773560"/>
                    <a:pt x="3426182" y="764765"/>
                  </a:cubicBezTo>
                  <a:lnTo>
                    <a:pt x="3365044" y="737255"/>
                  </a:lnTo>
                  <a:lnTo>
                    <a:pt x="3334529" y="723514"/>
                  </a:lnTo>
                  <a:cubicBezTo>
                    <a:pt x="3324394" y="718943"/>
                    <a:pt x="3314287" y="714265"/>
                    <a:pt x="3303733" y="710395"/>
                  </a:cubicBezTo>
                  <a:cubicBezTo>
                    <a:pt x="3262013" y="694346"/>
                    <a:pt x="3220711" y="677599"/>
                    <a:pt x="3179033" y="662259"/>
                  </a:cubicBezTo>
                  <a:lnTo>
                    <a:pt x="3052408" y="620447"/>
                  </a:lnTo>
                  <a:lnTo>
                    <a:pt x="2924325" y="584505"/>
                  </a:lnTo>
                  <a:cubicBezTo>
                    <a:pt x="2903106" y="578471"/>
                    <a:pt x="2881119" y="574434"/>
                    <a:pt x="2859667" y="569266"/>
                  </a:cubicBezTo>
                  <a:lnTo>
                    <a:pt x="2795226" y="554085"/>
                  </a:lnTo>
                  <a:cubicBezTo>
                    <a:pt x="2774078" y="548652"/>
                    <a:pt x="2751709" y="544744"/>
                    <a:pt x="2729702" y="540354"/>
                  </a:cubicBezTo>
                  <a:lnTo>
                    <a:pt x="2663758" y="527322"/>
                  </a:lnTo>
                  <a:lnTo>
                    <a:pt x="2630927" y="520495"/>
                  </a:lnTo>
                  <a:lnTo>
                    <a:pt x="2597965" y="515024"/>
                  </a:lnTo>
                  <a:cubicBezTo>
                    <a:pt x="2575970" y="511449"/>
                    <a:pt x="2554112" y="507795"/>
                    <a:pt x="2532205" y="503895"/>
                  </a:cubicBezTo>
                  <a:cubicBezTo>
                    <a:pt x="2357016" y="475037"/>
                    <a:pt x="2182954" y="456682"/>
                    <a:pt x="2010064" y="452552"/>
                  </a:cubicBezTo>
                  <a:cubicBezTo>
                    <a:pt x="1837255" y="448558"/>
                    <a:pt x="1665388" y="457916"/>
                    <a:pt x="1494552" y="485055"/>
                  </a:cubicBezTo>
                  <a:cubicBezTo>
                    <a:pt x="1452133" y="492816"/>
                    <a:pt x="1409569" y="501117"/>
                    <a:pt x="1366896" y="509389"/>
                  </a:cubicBezTo>
                  <a:cubicBezTo>
                    <a:pt x="1324862" y="520035"/>
                    <a:pt x="1282333" y="529505"/>
                    <a:pt x="1240175" y="541045"/>
                  </a:cubicBezTo>
                  <a:lnTo>
                    <a:pt x="1177438" y="560170"/>
                  </a:lnTo>
                  <a:lnTo>
                    <a:pt x="1145987" y="569826"/>
                  </a:lnTo>
                  <a:lnTo>
                    <a:pt x="1130315" y="574669"/>
                  </a:lnTo>
                  <a:lnTo>
                    <a:pt x="1114873" y="580384"/>
                  </a:lnTo>
                  <a:lnTo>
                    <a:pt x="1052839" y="602943"/>
                  </a:lnTo>
                  <a:cubicBezTo>
                    <a:pt x="1032151" y="610499"/>
                    <a:pt x="1011255" y="617535"/>
                    <a:pt x="991135" y="626866"/>
                  </a:cubicBezTo>
                  <a:lnTo>
                    <a:pt x="930179" y="653191"/>
                  </a:lnTo>
                  <a:cubicBezTo>
                    <a:pt x="909850" y="662002"/>
                    <a:pt x="889443" y="670676"/>
                    <a:pt x="869768" y="680937"/>
                  </a:cubicBezTo>
                  <a:lnTo>
                    <a:pt x="810085" y="710734"/>
                  </a:lnTo>
                  <a:cubicBezTo>
                    <a:pt x="790331" y="720859"/>
                    <a:pt x="770124" y="730514"/>
                    <a:pt x="751220" y="741794"/>
                  </a:cubicBezTo>
                  <a:cubicBezTo>
                    <a:pt x="673929" y="784955"/>
                    <a:pt x="598827" y="830326"/>
                    <a:pt x="532669" y="881688"/>
                  </a:cubicBezTo>
                  <a:cubicBezTo>
                    <a:pt x="464226" y="931625"/>
                    <a:pt x="406969" y="988270"/>
                    <a:pt x="354185" y="1050286"/>
                  </a:cubicBezTo>
                  <a:lnTo>
                    <a:pt x="315980" y="1098125"/>
                  </a:lnTo>
                  <a:lnTo>
                    <a:pt x="280345" y="1149782"/>
                  </a:lnTo>
                  <a:cubicBezTo>
                    <a:pt x="268144" y="1166335"/>
                    <a:pt x="257438" y="1185955"/>
                    <a:pt x="245890" y="1203959"/>
                  </a:cubicBezTo>
                  <a:cubicBezTo>
                    <a:pt x="234552" y="1222481"/>
                    <a:pt x="223171" y="1240298"/>
                    <a:pt x="212162" y="1260184"/>
                  </a:cubicBezTo>
                  <a:cubicBezTo>
                    <a:pt x="168299" y="1337574"/>
                    <a:pt x="125055" y="1419360"/>
                    <a:pt x="80716" y="1502476"/>
                  </a:cubicBezTo>
                  <a:lnTo>
                    <a:pt x="0" y="1648841"/>
                  </a:lnTo>
                  <a:lnTo>
                    <a:pt x="0" y="954863"/>
                  </a:lnTo>
                  <a:lnTo>
                    <a:pt x="43491" y="895513"/>
                  </a:lnTo>
                  <a:cubicBezTo>
                    <a:pt x="59888" y="874984"/>
                    <a:pt x="77014" y="854766"/>
                    <a:pt x="93923" y="834489"/>
                  </a:cubicBezTo>
                  <a:cubicBezTo>
                    <a:pt x="163245" y="754880"/>
                    <a:pt x="240806" y="679565"/>
                    <a:pt x="323465" y="617671"/>
                  </a:cubicBezTo>
                  <a:cubicBezTo>
                    <a:pt x="405002" y="553042"/>
                    <a:pt x="490132" y="499230"/>
                    <a:pt x="574777" y="446794"/>
                  </a:cubicBezTo>
                  <a:cubicBezTo>
                    <a:pt x="595733" y="433050"/>
                    <a:pt x="617442" y="421248"/>
                    <a:pt x="638943" y="408925"/>
                  </a:cubicBezTo>
                  <a:lnTo>
                    <a:pt x="703505" y="371742"/>
                  </a:lnTo>
                  <a:cubicBezTo>
                    <a:pt x="724798" y="358900"/>
                    <a:pt x="747120" y="347842"/>
                    <a:pt x="769262" y="336154"/>
                  </a:cubicBezTo>
                  <a:lnTo>
                    <a:pt x="835552" y="301173"/>
                  </a:lnTo>
                  <a:cubicBezTo>
                    <a:pt x="857427" y="289183"/>
                    <a:pt x="880470" y="278896"/>
                    <a:pt x="902979" y="268004"/>
                  </a:cubicBezTo>
                  <a:lnTo>
                    <a:pt x="971127" y="235607"/>
                  </a:lnTo>
                  <a:lnTo>
                    <a:pt x="988238" y="227556"/>
                  </a:lnTo>
                  <a:lnTo>
                    <a:pt x="1005744" y="220191"/>
                  </a:lnTo>
                  <a:lnTo>
                    <a:pt x="1040729" y="205569"/>
                  </a:lnTo>
                  <a:lnTo>
                    <a:pt x="1110835" y="176248"/>
                  </a:lnTo>
                  <a:cubicBezTo>
                    <a:pt x="1157999" y="157703"/>
                    <a:pt x="1206322" y="141323"/>
                    <a:pt x="1254256" y="123796"/>
                  </a:cubicBezTo>
                  <a:cubicBezTo>
                    <a:pt x="1302938" y="108671"/>
                    <a:pt x="1352074" y="94017"/>
                    <a:pt x="1401310" y="79852"/>
                  </a:cubicBezTo>
                  <a:cubicBezTo>
                    <a:pt x="1599497" y="26774"/>
                    <a:pt x="1806373" y="-329"/>
                    <a:pt x="2011811" y="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06AC5DCC-C3CC-4FD5-AD4E-13A1BE5F7F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297400"/>
              <a:ext cx="5215811" cy="6107388"/>
            </a:xfrm>
            <a:custGeom>
              <a:avLst/>
              <a:gdLst>
                <a:gd name="connsiteX0" fmla="*/ 1869139 w 5215811"/>
                <a:gd name="connsiteY0" fmla="*/ 9 h 6107388"/>
                <a:gd name="connsiteX1" fmla="*/ 2791149 w 5215811"/>
                <a:gd name="connsiteY1" fmla="*/ 130229 h 6107388"/>
                <a:gd name="connsiteX2" fmla="*/ 4760307 w 5215811"/>
                <a:gd name="connsiteY2" fmla="*/ 1608408 h 6107388"/>
                <a:gd name="connsiteX3" fmla="*/ 5108574 w 5215811"/>
                <a:gd name="connsiteY3" fmla="*/ 4050383 h 6107388"/>
                <a:gd name="connsiteX4" fmla="*/ 3434916 w 5215811"/>
                <a:gd name="connsiteY4" fmla="*/ 5503134 h 6107388"/>
                <a:gd name="connsiteX5" fmla="*/ 1137841 w 5215811"/>
                <a:gd name="connsiteY5" fmla="*/ 6033968 h 6107388"/>
                <a:gd name="connsiteX6" fmla="*/ 217555 w 5215811"/>
                <a:gd name="connsiteY6" fmla="*/ 5598945 h 6107388"/>
                <a:gd name="connsiteX7" fmla="*/ 0 w 5215811"/>
                <a:gd name="connsiteY7" fmla="*/ 5419622 h 6107388"/>
                <a:gd name="connsiteX8" fmla="*/ 0 w 5215811"/>
                <a:gd name="connsiteY8" fmla="*/ 4571683 h 6107388"/>
                <a:gd name="connsiteX9" fmla="*/ 18056 w 5215811"/>
                <a:gd name="connsiteY9" fmla="*/ 4599282 h 6107388"/>
                <a:gd name="connsiteX10" fmla="*/ 358324 w 5215811"/>
                <a:gd name="connsiteY10" fmla="*/ 4988154 h 6107388"/>
                <a:gd name="connsiteX11" fmla="*/ 1282741 w 5215811"/>
                <a:gd name="connsiteY11" fmla="*/ 5493193 h 6107388"/>
                <a:gd name="connsiteX12" fmla="*/ 2172794 w 5215811"/>
                <a:gd name="connsiteY12" fmla="*/ 5470630 h 6107388"/>
                <a:gd name="connsiteX13" fmla="*/ 3146893 w 5215811"/>
                <a:gd name="connsiteY13" fmla="*/ 5016296 h 6107388"/>
                <a:gd name="connsiteX14" fmla="*/ 3574114 w 5215811"/>
                <a:gd name="connsiteY14" fmla="*/ 4791124 h 6107388"/>
                <a:gd name="connsiteX15" fmla="*/ 4244948 w 5215811"/>
                <a:gd name="connsiteY15" fmla="*/ 4392664 h 6107388"/>
                <a:gd name="connsiteX16" fmla="*/ 4556385 w 5215811"/>
                <a:gd name="connsiteY16" fmla="*/ 3902656 h 6107388"/>
                <a:gd name="connsiteX17" fmla="*/ 4616354 w 5215811"/>
                <a:gd name="connsiteY17" fmla="*/ 2851680 h 6107388"/>
                <a:gd name="connsiteX18" fmla="*/ 4269266 w 5215811"/>
                <a:gd name="connsiteY18" fmla="*/ 1889625 h 6107388"/>
                <a:gd name="connsiteX19" fmla="*/ 2645976 w 5215811"/>
                <a:gd name="connsiteY19" fmla="*/ 671162 h 6107388"/>
                <a:gd name="connsiteX20" fmla="*/ 1648930 w 5215811"/>
                <a:gd name="connsiteY20" fmla="*/ 573017 h 6107388"/>
                <a:gd name="connsiteX21" fmla="*/ 771768 w 5215811"/>
                <a:gd name="connsiteY21" fmla="*/ 865882 h 6107388"/>
                <a:gd name="connsiteX22" fmla="*/ 433617 w 5215811"/>
                <a:gd name="connsiteY22" fmla="*/ 1119441 h 6107388"/>
                <a:gd name="connsiteX23" fmla="*/ 200571 w 5215811"/>
                <a:gd name="connsiteY23" fmla="*/ 1486480 h 6107388"/>
                <a:gd name="connsiteX24" fmla="*/ 47077 w 5215811"/>
                <a:gd name="connsiteY24" fmla="*/ 1753604 h 6107388"/>
                <a:gd name="connsiteX25" fmla="*/ 0 w 5215811"/>
                <a:gd name="connsiteY25" fmla="*/ 1831655 h 6107388"/>
                <a:gd name="connsiteX26" fmla="*/ 0 w 5215811"/>
                <a:gd name="connsiteY26" fmla="*/ 751112 h 6107388"/>
                <a:gd name="connsiteX27" fmla="*/ 6994 w 5215811"/>
                <a:gd name="connsiteY27" fmla="*/ 742614 h 6107388"/>
                <a:gd name="connsiteX28" fmla="*/ 484047 w 5215811"/>
                <a:gd name="connsiteY28" fmla="*/ 378777 h 6107388"/>
                <a:gd name="connsiteX29" fmla="*/ 1869139 w 5215811"/>
                <a:gd name="connsiteY29" fmla="*/ 9 h 61073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5811" h="6107388">
                  <a:moveTo>
                    <a:pt x="1869139" y="9"/>
                  </a:moveTo>
                  <a:cubicBezTo>
                    <a:pt x="2160924" y="-706"/>
                    <a:pt x="2465752" y="43039"/>
                    <a:pt x="2791149" y="130229"/>
                  </a:cubicBezTo>
                  <a:cubicBezTo>
                    <a:pt x="3651198" y="360678"/>
                    <a:pt x="4339884" y="907924"/>
                    <a:pt x="4760307" y="1608408"/>
                  </a:cubicBezTo>
                  <a:cubicBezTo>
                    <a:pt x="5188180" y="2321320"/>
                    <a:pt x="5338357" y="3192822"/>
                    <a:pt x="5108574" y="4050383"/>
                  </a:cubicBezTo>
                  <a:cubicBezTo>
                    <a:pt x="4880820" y="4900373"/>
                    <a:pt x="4152841" y="5098512"/>
                    <a:pt x="3434916" y="5503134"/>
                  </a:cubicBezTo>
                  <a:cubicBezTo>
                    <a:pt x="2717099" y="5907783"/>
                    <a:pt x="2005568" y="6266474"/>
                    <a:pt x="1137841" y="6033968"/>
                  </a:cubicBezTo>
                  <a:cubicBezTo>
                    <a:pt x="783079" y="5938910"/>
                    <a:pt x="479573" y="5790114"/>
                    <a:pt x="217555" y="5598945"/>
                  </a:cubicBezTo>
                  <a:lnTo>
                    <a:pt x="0" y="5419622"/>
                  </a:lnTo>
                  <a:lnTo>
                    <a:pt x="0" y="4571683"/>
                  </a:lnTo>
                  <a:lnTo>
                    <a:pt x="18056" y="4599282"/>
                  </a:lnTo>
                  <a:cubicBezTo>
                    <a:pt x="124071" y="4746782"/>
                    <a:pt x="237002" y="4875718"/>
                    <a:pt x="358324" y="4988154"/>
                  </a:cubicBezTo>
                  <a:cubicBezTo>
                    <a:pt x="621323" y="5231809"/>
                    <a:pt x="923667" y="5396979"/>
                    <a:pt x="1282741" y="5493193"/>
                  </a:cubicBezTo>
                  <a:cubicBezTo>
                    <a:pt x="1573894" y="5571207"/>
                    <a:pt x="1856732" y="5563878"/>
                    <a:pt x="2172794" y="5470630"/>
                  </a:cubicBezTo>
                  <a:cubicBezTo>
                    <a:pt x="2498985" y="5374183"/>
                    <a:pt x="2832844" y="5193315"/>
                    <a:pt x="3146893" y="5016296"/>
                  </a:cubicBezTo>
                  <a:cubicBezTo>
                    <a:pt x="3293538" y="4933641"/>
                    <a:pt x="3436182" y="4861160"/>
                    <a:pt x="3574114" y="4791124"/>
                  </a:cubicBezTo>
                  <a:cubicBezTo>
                    <a:pt x="3841238" y="4655550"/>
                    <a:pt x="4071901" y="4538375"/>
                    <a:pt x="4244948" y="4392664"/>
                  </a:cubicBezTo>
                  <a:cubicBezTo>
                    <a:pt x="4405844" y="4257259"/>
                    <a:pt x="4501845" y="4106204"/>
                    <a:pt x="4556385" y="3902656"/>
                  </a:cubicBezTo>
                  <a:cubicBezTo>
                    <a:pt x="4649063" y="3556776"/>
                    <a:pt x="4669271" y="3203187"/>
                    <a:pt x="4616354" y="2851680"/>
                  </a:cubicBezTo>
                  <a:cubicBezTo>
                    <a:pt x="4565198" y="2511774"/>
                    <a:pt x="4448474" y="2188147"/>
                    <a:pt x="4269266" y="1889625"/>
                  </a:cubicBezTo>
                  <a:cubicBezTo>
                    <a:pt x="3907781" y="1287586"/>
                    <a:pt x="3331245" y="854780"/>
                    <a:pt x="2645976" y="671162"/>
                  </a:cubicBezTo>
                  <a:cubicBezTo>
                    <a:pt x="2278249" y="572630"/>
                    <a:pt x="1952074" y="540526"/>
                    <a:pt x="1648930" y="573017"/>
                  </a:cubicBezTo>
                  <a:cubicBezTo>
                    <a:pt x="1351746" y="604901"/>
                    <a:pt x="1064785" y="700731"/>
                    <a:pt x="771768" y="865882"/>
                  </a:cubicBezTo>
                  <a:cubicBezTo>
                    <a:pt x="568061" y="980657"/>
                    <a:pt x="486465" y="1058486"/>
                    <a:pt x="433617" y="1119441"/>
                  </a:cubicBezTo>
                  <a:cubicBezTo>
                    <a:pt x="358307" y="1206256"/>
                    <a:pt x="292149" y="1323808"/>
                    <a:pt x="200571" y="1486480"/>
                  </a:cubicBezTo>
                  <a:cubicBezTo>
                    <a:pt x="156644" y="1564432"/>
                    <a:pt x="106654" y="1653214"/>
                    <a:pt x="47077" y="1753604"/>
                  </a:cubicBezTo>
                  <a:lnTo>
                    <a:pt x="0" y="1831655"/>
                  </a:lnTo>
                  <a:lnTo>
                    <a:pt x="0" y="751112"/>
                  </a:lnTo>
                  <a:lnTo>
                    <a:pt x="6994" y="742614"/>
                  </a:lnTo>
                  <a:cubicBezTo>
                    <a:pt x="117721" y="617683"/>
                    <a:pt x="259696" y="505222"/>
                    <a:pt x="484047" y="378777"/>
                  </a:cubicBezTo>
                  <a:cubicBezTo>
                    <a:pt x="932751" y="125890"/>
                    <a:pt x="1382831" y="1200"/>
                    <a:pt x="1869139" y="9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BBCC2F4-EFA7-4AF4-B538-AC4022D90F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1" y="319367"/>
              <a:ext cx="5217956" cy="6100079"/>
            </a:xfrm>
            <a:custGeom>
              <a:avLst/>
              <a:gdLst>
                <a:gd name="connsiteX0" fmla="*/ 1951393 w 5217956"/>
                <a:gd name="connsiteY0" fmla="*/ 82 h 6100079"/>
                <a:gd name="connsiteX1" fmla="*/ 2855177 w 5217956"/>
                <a:gd name="connsiteY1" fmla="*/ 125419 h 6100079"/>
                <a:gd name="connsiteX2" fmla="*/ 4779341 w 5217956"/>
                <a:gd name="connsiteY2" fmla="*/ 1591542 h 6100079"/>
                <a:gd name="connsiteX3" fmla="*/ 5108573 w 5217956"/>
                <a:gd name="connsiteY3" fmla="*/ 4028416 h 6100079"/>
                <a:gd name="connsiteX4" fmla="*/ 3459358 w 5217956"/>
                <a:gd name="connsiteY4" fmla="*/ 5487716 h 6100079"/>
                <a:gd name="connsiteX5" fmla="*/ 1203274 w 5217956"/>
                <a:gd name="connsiteY5" fmla="*/ 6029534 h 6100079"/>
                <a:gd name="connsiteX6" fmla="*/ 59920 w 5217956"/>
                <a:gd name="connsiteY6" fmla="*/ 5396467 h 6100079"/>
                <a:gd name="connsiteX7" fmla="*/ 0 w 5217956"/>
                <a:gd name="connsiteY7" fmla="*/ 5333382 h 6100079"/>
                <a:gd name="connsiteX8" fmla="*/ 0 w 5217956"/>
                <a:gd name="connsiteY8" fmla="*/ 4205833 h 6100079"/>
                <a:gd name="connsiteX9" fmla="*/ 58036 w 5217956"/>
                <a:gd name="connsiteY9" fmla="*/ 4310048 h 6100079"/>
                <a:gd name="connsiteX10" fmla="*/ 520779 w 5217956"/>
                <a:gd name="connsiteY10" fmla="*/ 4907591 h 6100079"/>
                <a:gd name="connsiteX11" fmla="*/ 1377154 w 5217956"/>
                <a:gd name="connsiteY11" fmla="*/ 5380604 h 6100079"/>
                <a:gd name="connsiteX12" fmla="*/ 3123340 w 5217956"/>
                <a:gd name="connsiteY12" fmla="*/ 4905715 h 6100079"/>
                <a:gd name="connsiteX13" fmla="*/ 3547863 w 5217956"/>
                <a:gd name="connsiteY13" fmla="*/ 4676342 h 6100079"/>
                <a:gd name="connsiteX14" fmla="*/ 4186753 w 5217956"/>
                <a:gd name="connsiteY14" fmla="*/ 4289376 h 6100079"/>
                <a:gd name="connsiteX15" fmla="*/ 4459565 w 5217956"/>
                <a:gd name="connsiteY15" fmla="*/ 3854399 h 6100079"/>
                <a:gd name="connsiteX16" fmla="*/ 4521015 w 5217956"/>
                <a:gd name="connsiteY16" fmla="*/ 2849377 h 6100079"/>
                <a:gd name="connsiteX17" fmla="*/ 4199723 w 5217956"/>
                <a:gd name="connsiteY17" fmla="*/ 1931213 h 6100079"/>
                <a:gd name="connsiteX18" fmla="*/ 2681217 w 5217956"/>
                <a:gd name="connsiteY18" fmla="*/ 774211 h 6100079"/>
                <a:gd name="connsiteX19" fmla="*/ 926547 w 5217956"/>
                <a:gd name="connsiteY19" fmla="*/ 967112 h 6100079"/>
                <a:gd name="connsiteX20" fmla="*/ 622677 w 5217956"/>
                <a:gd name="connsiteY20" fmla="*/ 1197863 h 6100079"/>
                <a:gd name="connsiteX21" fmla="*/ 404892 w 5217956"/>
                <a:gd name="connsiteY21" fmla="*/ 1547314 h 6100079"/>
                <a:gd name="connsiteX22" fmla="*/ 40135 w 5217956"/>
                <a:gd name="connsiteY22" fmla="*/ 2159090 h 6100079"/>
                <a:gd name="connsiteX23" fmla="*/ 0 w 5217956"/>
                <a:gd name="connsiteY23" fmla="*/ 2219367 h 6100079"/>
                <a:gd name="connsiteX24" fmla="*/ 0 w 5217956"/>
                <a:gd name="connsiteY24" fmla="*/ 915659 h 6100079"/>
                <a:gd name="connsiteX25" fmla="*/ 58609 w 5217956"/>
                <a:gd name="connsiteY25" fmla="*/ 828051 h 6100079"/>
                <a:gd name="connsiteX26" fmla="*/ 590688 w 5217956"/>
                <a:gd name="connsiteY26" fmla="*/ 385385 h 6100079"/>
                <a:gd name="connsiteX27" fmla="*/ 1951393 w 5217956"/>
                <a:gd name="connsiteY27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5217956" h="6100079">
                  <a:moveTo>
                    <a:pt x="1951393" y="82"/>
                  </a:moveTo>
                  <a:cubicBezTo>
                    <a:pt x="2237631" y="-2119"/>
                    <a:pt x="2536431" y="40011"/>
                    <a:pt x="2855177" y="125419"/>
                  </a:cubicBezTo>
                  <a:cubicBezTo>
                    <a:pt x="3697704" y="351173"/>
                    <a:pt x="4370490" y="894159"/>
                    <a:pt x="4779341" y="1591542"/>
                  </a:cubicBezTo>
                  <a:cubicBezTo>
                    <a:pt x="5195534" y="2301324"/>
                    <a:pt x="5338356" y="3170855"/>
                    <a:pt x="5108573" y="4028416"/>
                  </a:cubicBezTo>
                  <a:cubicBezTo>
                    <a:pt x="4880819" y="4878406"/>
                    <a:pt x="4165603" y="5079965"/>
                    <a:pt x="3459358" y="5487716"/>
                  </a:cubicBezTo>
                  <a:cubicBezTo>
                    <a:pt x="2753114" y="5895466"/>
                    <a:pt x="2053264" y="6257288"/>
                    <a:pt x="1203274" y="6029534"/>
                  </a:cubicBezTo>
                  <a:cubicBezTo>
                    <a:pt x="739884" y="5905369"/>
                    <a:pt x="366399" y="5685345"/>
                    <a:pt x="59920" y="5396467"/>
                  </a:cubicBezTo>
                  <a:lnTo>
                    <a:pt x="0" y="5333382"/>
                  </a:lnTo>
                  <a:lnTo>
                    <a:pt x="0" y="4205833"/>
                  </a:lnTo>
                  <a:lnTo>
                    <a:pt x="58036" y="4310048"/>
                  </a:lnTo>
                  <a:cubicBezTo>
                    <a:pt x="197935" y="4550245"/>
                    <a:pt x="350594" y="4747142"/>
                    <a:pt x="520779" y="4907591"/>
                  </a:cubicBezTo>
                  <a:cubicBezTo>
                    <a:pt x="763600" y="5136565"/>
                    <a:pt x="1043821" y="5291288"/>
                    <a:pt x="1377154" y="5380604"/>
                  </a:cubicBezTo>
                  <a:cubicBezTo>
                    <a:pt x="1963029" y="5537589"/>
                    <a:pt x="2470519" y="5282804"/>
                    <a:pt x="3123340" y="4905715"/>
                  </a:cubicBezTo>
                  <a:cubicBezTo>
                    <a:pt x="3269800" y="4821157"/>
                    <a:pt x="3411134" y="4747512"/>
                    <a:pt x="3547863" y="4676342"/>
                  </a:cubicBezTo>
                  <a:cubicBezTo>
                    <a:pt x="3804497" y="4542710"/>
                    <a:pt x="4026085" y="4427393"/>
                    <a:pt x="4186753" y="4289376"/>
                  </a:cubicBezTo>
                  <a:cubicBezTo>
                    <a:pt x="4329009" y="4167293"/>
                    <a:pt x="4410589" y="4037181"/>
                    <a:pt x="4459565" y="3854399"/>
                  </a:cubicBezTo>
                  <a:cubicBezTo>
                    <a:pt x="4548302" y="3523229"/>
                    <a:pt x="4568981" y="3185183"/>
                    <a:pt x="4521015" y="2849377"/>
                  </a:cubicBezTo>
                  <a:cubicBezTo>
                    <a:pt x="4474709" y="2524680"/>
                    <a:pt x="4366564" y="2215756"/>
                    <a:pt x="4199723" y="1931213"/>
                  </a:cubicBezTo>
                  <a:cubicBezTo>
                    <a:pt x="3863270" y="1357325"/>
                    <a:pt x="3323982" y="946439"/>
                    <a:pt x="2681217" y="774211"/>
                  </a:cubicBezTo>
                  <a:cubicBezTo>
                    <a:pt x="2001139" y="591984"/>
                    <a:pt x="1476322" y="649699"/>
                    <a:pt x="926547" y="967112"/>
                  </a:cubicBezTo>
                  <a:cubicBezTo>
                    <a:pt x="740730" y="1074393"/>
                    <a:pt x="668642" y="1143989"/>
                    <a:pt x="622677" y="1197863"/>
                  </a:cubicBezTo>
                  <a:cubicBezTo>
                    <a:pt x="555599" y="1276450"/>
                    <a:pt x="492360" y="1390031"/>
                    <a:pt x="404892" y="1547314"/>
                  </a:cubicBezTo>
                  <a:cubicBezTo>
                    <a:pt x="317047" y="1705133"/>
                    <a:pt x="204816" y="1906756"/>
                    <a:pt x="40135" y="2159090"/>
                  </a:cubicBezTo>
                  <a:lnTo>
                    <a:pt x="0" y="2219367"/>
                  </a:lnTo>
                  <a:lnTo>
                    <a:pt x="0" y="915659"/>
                  </a:lnTo>
                  <a:lnTo>
                    <a:pt x="58609" y="828051"/>
                  </a:lnTo>
                  <a:cubicBezTo>
                    <a:pt x="177453" y="670481"/>
                    <a:pt x="325846" y="538291"/>
                    <a:pt x="590688" y="385385"/>
                  </a:cubicBezTo>
                  <a:cubicBezTo>
                    <a:pt x="1032158" y="130559"/>
                    <a:pt x="1474329" y="3750"/>
                    <a:pt x="1951393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2A9D1364-B6A3-44CB-9FBA-C528F0CE90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19220" y="319367"/>
              <a:ext cx="5217957" cy="6100079"/>
            </a:xfrm>
            <a:custGeom>
              <a:avLst/>
              <a:gdLst>
                <a:gd name="connsiteX0" fmla="*/ 1951394 w 5217957"/>
                <a:gd name="connsiteY0" fmla="*/ 82 h 6100079"/>
                <a:gd name="connsiteX1" fmla="*/ 2855178 w 5217957"/>
                <a:gd name="connsiteY1" fmla="*/ 125419 h 6100079"/>
                <a:gd name="connsiteX2" fmla="*/ 4779341 w 5217957"/>
                <a:gd name="connsiteY2" fmla="*/ 1591542 h 6100079"/>
                <a:gd name="connsiteX3" fmla="*/ 5108574 w 5217957"/>
                <a:gd name="connsiteY3" fmla="*/ 4028416 h 6100079"/>
                <a:gd name="connsiteX4" fmla="*/ 3459359 w 5217957"/>
                <a:gd name="connsiteY4" fmla="*/ 5487716 h 6100079"/>
                <a:gd name="connsiteX5" fmla="*/ 1203275 w 5217957"/>
                <a:gd name="connsiteY5" fmla="*/ 6029534 h 6100079"/>
                <a:gd name="connsiteX6" fmla="*/ 59921 w 5217957"/>
                <a:gd name="connsiteY6" fmla="*/ 5396467 h 6100079"/>
                <a:gd name="connsiteX7" fmla="*/ 0 w 5217957"/>
                <a:gd name="connsiteY7" fmla="*/ 5333381 h 6100079"/>
                <a:gd name="connsiteX8" fmla="*/ 0 w 5217957"/>
                <a:gd name="connsiteY8" fmla="*/ 4427327 h 6100079"/>
                <a:gd name="connsiteX9" fmla="*/ 112056 w 5217957"/>
                <a:gd name="connsiteY9" fmla="*/ 4602502 h 6100079"/>
                <a:gd name="connsiteX10" fmla="*/ 443875 w 5217957"/>
                <a:gd name="connsiteY10" fmla="*/ 4989110 h 6100079"/>
                <a:gd name="connsiteX11" fmla="*/ 1348175 w 5217957"/>
                <a:gd name="connsiteY11" fmla="*/ 5488759 h 6100079"/>
                <a:gd name="connsiteX12" fmla="*/ 2221463 w 5217957"/>
                <a:gd name="connsiteY12" fmla="*/ 5461704 h 6100079"/>
                <a:gd name="connsiteX13" fmla="*/ 3179339 w 5217957"/>
                <a:gd name="connsiteY13" fmla="*/ 5003023 h 6100079"/>
                <a:gd name="connsiteX14" fmla="*/ 3599638 w 5217957"/>
                <a:gd name="connsiteY14" fmla="*/ 4775996 h 6100079"/>
                <a:gd name="connsiteX15" fmla="*/ 4259765 w 5217957"/>
                <a:gd name="connsiteY15" fmla="*/ 4374667 h 6100079"/>
                <a:gd name="connsiteX16" fmla="*/ 4567742 w 5217957"/>
                <a:gd name="connsiteY16" fmla="*/ 3883732 h 6100079"/>
                <a:gd name="connsiteX17" fmla="*/ 4631929 w 5217957"/>
                <a:gd name="connsiteY17" fmla="*/ 2833886 h 6100079"/>
                <a:gd name="connsiteX18" fmla="*/ 4296412 w 5217957"/>
                <a:gd name="connsiteY18" fmla="*/ 1874932 h 6100079"/>
                <a:gd name="connsiteX19" fmla="*/ 2710219 w 5217957"/>
                <a:gd name="connsiteY19" fmla="*/ 666410 h 6100079"/>
                <a:gd name="connsiteX20" fmla="*/ 1732642 w 5217957"/>
                <a:gd name="connsiteY20" fmla="*/ 573480 h 6100079"/>
                <a:gd name="connsiteX21" fmla="*/ 870621 w 5217957"/>
                <a:gd name="connsiteY21" fmla="*/ 870402 h 6100079"/>
                <a:gd name="connsiteX22" fmla="*/ 537555 w 5217957"/>
                <a:gd name="connsiteY22" fmla="*/ 1125324 h 6100079"/>
                <a:gd name="connsiteX23" fmla="*/ 306995 w 5217957"/>
                <a:gd name="connsiteY23" fmla="*/ 1493030 h 6100079"/>
                <a:gd name="connsiteX24" fmla="*/ 23579 w 5217957"/>
                <a:gd name="connsiteY24" fmla="*/ 1977465 h 6100079"/>
                <a:gd name="connsiteX25" fmla="*/ 0 w 5217957"/>
                <a:gd name="connsiteY25" fmla="*/ 2014291 h 6100079"/>
                <a:gd name="connsiteX26" fmla="*/ 0 w 5217957"/>
                <a:gd name="connsiteY26" fmla="*/ 915660 h 6100079"/>
                <a:gd name="connsiteX27" fmla="*/ 58609 w 5217957"/>
                <a:gd name="connsiteY27" fmla="*/ 828051 h 6100079"/>
                <a:gd name="connsiteX28" fmla="*/ 590689 w 5217957"/>
                <a:gd name="connsiteY28" fmla="*/ 385385 h 6100079"/>
                <a:gd name="connsiteX29" fmla="*/ 1951394 w 5217957"/>
                <a:gd name="connsiteY29" fmla="*/ 82 h 610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5217957" h="6100079">
                  <a:moveTo>
                    <a:pt x="1951394" y="82"/>
                  </a:moveTo>
                  <a:cubicBezTo>
                    <a:pt x="2237632" y="-2119"/>
                    <a:pt x="2536431" y="40011"/>
                    <a:pt x="2855178" y="125419"/>
                  </a:cubicBezTo>
                  <a:cubicBezTo>
                    <a:pt x="3697704" y="351173"/>
                    <a:pt x="4370491" y="894159"/>
                    <a:pt x="4779341" y="1591542"/>
                  </a:cubicBezTo>
                  <a:cubicBezTo>
                    <a:pt x="5195535" y="2301324"/>
                    <a:pt x="5338357" y="3170855"/>
                    <a:pt x="5108574" y="4028416"/>
                  </a:cubicBezTo>
                  <a:cubicBezTo>
                    <a:pt x="4880820" y="4878406"/>
                    <a:pt x="4165604" y="5079965"/>
                    <a:pt x="3459359" y="5487716"/>
                  </a:cubicBezTo>
                  <a:cubicBezTo>
                    <a:pt x="2753115" y="5895466"/>
                    <a:pt x="2053265" y="6257288"/>
                    <a:pt x="1203275" y="6029534"/>
                  </a:cubicBezTo>
                  <a:cubicBezTo>
                    <a:pt x="739885" y="5905369"/>
                    <a:pt x="366400" y="5685345"/>
                    <a:pt x="59921" y="5396467"/>
                  </a:cubicBezTo>
                  <a:lnTo>
                    <a:pt x="0" y="5333381"/>
                  </a:lnTo>
                  <a:lnTo>
                    <a:pt x="0" y="4427327"/>
                  </a:lnTo>
                  <a:lnTo>
                    <a:pt x="112056" y="4602502"/>
                  </a:lnTo>
                  <a:cubicBezTo>
                    <a:pt x="215300" y="4749260"/>
                    <a:pt x="325419" y="4877443"/>
                    <a:pt x="443875" y="4989110"/>
                  </a:cubicBezTo>
                  <a:cubicBezTo>
                    <a:pt x="700709" y="5231113"/>
                    <a:pt x="996455" y="5394516"/>
                    <a:pt x="1348175" y="5488759"/>
                  </a:cubicBezTo>
                  <a:cubicBezTo>
                    <a:pt x="1633379" y="5565179"/>
                    <a:pt x="1910917" y="5556430"/>
                    <a:pt x="2221463" y="5461704"/>
                  </a:cubicBezTo>
                  <a:cubicBezTo>
                    <a:pt x="2541923" y="5363721"/>
                    <a:pt x="2870374" y="5181404"/>
                    <a:pt x="3179339" y="5003023"/>
                  </a:cubicBezTo>
                  <a:cubicBezTo>
                    <a:pt x="3323713" y="4919760"/>
                    <a:pt x="3463978" y="4846641"/>
                    <a:pt x="3599638" y="4775996"/>
                  </a:cubicBezTo>
                  <a:cubicBezTo>
                    <a:pt x="3862436" y="4639263"/>
                    <a:pt x="4089314" y="4521074"/>
                    <a:pt x="4259765" y="4374667"/>
                  </a:cubicBezTo>
                  <a:cubicBezTo>
                    <a:pt x="4418282" y="4238625"/>
                    <a:pt x="4513201" y="4087280"/>
                    <a:pt x="4567742" y="3883732"/>
                  </a:cubicBezTo>
                  <a:cubicBezTo>
                    <a:pt x="4660420" y="3537853"/>
                    <a:pt x="4682033" y="3184640"/>
                    <a:pt x="4631929" y="2833886"/>
                  </a:cubicBezTo>
                  <a:cubicBezTo>
                    <a:pt x="4583584" y="2494734"/>
                    <a:pt x="4470646" y="2172121"/>
                    <a:pt x="4296412" y="1874932"/>
                  </a:cubicBezTo>
                  <a:cubicBezTo>
                    <a:pt x="3944879" y="1275559"/>
                    <a:pt x="3381537" y="846289"/>
                    <a:pt x="2710219" y="666410"/>
                  </a:cubicBezTo>
                  <a:cubicBezTo>
                    <a:pt x="2349955" y="569877"/>
                    <a:pt x="2030161" y="539483"/>
                    <a:pt x="1732642" y="573480"/>
                  </a:cubicBezTo>
                  <a:cubicBezTo>
                    <a:pt x="1440866" y="606814"/>
                    <a:pt x="1158880" y="703976"/>
                    <a:pt x="870621" y="870402"/>
                  </a:cubicBezTo>
                  <a:cubicBezTo>
                    <a:pt x="670160" y="986048"/>
                    <a:pt x="589753" y="1064195"/>
                    <a:pt x="537555" y="1125324"/>
                  </a:cubicBezTo>
                  <a:cubicBezTo>
                    <a:pt x="463218" y="1212400"/>
                    <a:pt x="397708" y="1330125"/>
                    <a:pt x="306995" y="1493030"/>
                  </a:cubicBezTo>
                  <a:cubicBezTo>
                    <a:pt x="234596" y="1623167"/>
                    <a:pt x="145436" y="1783409"/>
                    <a:pt x="23579" y="1977465"/>
                  </a:cubicBezTo>
                  <a:lnTo>
                    <a:pt x="0" y="2014291"/>
                  </a:lnTo>
                  <a:lnTo>
                    <a:pt x="0" y="915660"/>
                  </a:lnTo>
                  <a:lnTo>
                    <a:pt x="58609" y="828051"/>
                  </a:lnTo>
                  <a:cubicBezTo>
                    <a:pt x="177453" y="670481"/>
                    <a:pt x="325847" y="538291"/>
                    <a:pt x="590689" y="385385"/>
                  </a:cubicBezTo>
                  <a:cubicBezTo>
                    <a:pt x="1032159" y="130559"/>
                    <a:pt x="1474330" y="3750"/>
                    <a:pt x="1951394" y="82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B8BB0C48-8E40-CEA9-DBFD-CC61B862E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43013"/>
            <a:ext cx="3855720" cy="4371974"/>
          </a:xfrm>
        </p:spPr>
        <p:txBody>
          <a:bodyPr>
            <a:normAutofit/>
          </a:bodyPr>
          <a:lstStyle/>
          <a:p>
            <a:r>
              <a:rPr lang="en-JP" sz="3600">
                <a:solidFill>
                  <a:schemeClr val="tx2"/>
                </a:solidFill>
              </a:rPr>
              <a:t>Limitations &amp; Future Work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59E1E-EB04-DD5B-52AD-9DDBBE0CF0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2200" y="804672"/>
            <a:ext cx="5221224" cy="5230368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JP" sz="1800" b="1">
                <a:solidFill>
                  <a:schemeClr val="tx2"/>
                </a:solidFill>
              </a:rPr>
              <a:t>Limitations</a:t>
            </a:r>
          </a:p>
          <a:p>
            <a:pPr lvl="0"/>
            <a:r>
              <a:rPr lang="en-JP" sz="1800">
                <a:solidFill>
                  <a:schemeClr val="tx2"/>
                </a:solidFill>
              </a:rPr>
              <a:t>Experiments limited to instances up to 200 customers. </a:t>
            </a:r>
          </a:p>
          <a:p>
            <a:r>
              <a:rPr lang="en-JP" sz="1800">
                <a:solidFill>
                  <a:schemeClr val="tx2"/>
                </a:solidFill>
              </a:rPr>
              <a:t>Deterministic Harmony Search </a:t>
            </a: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had no randomized selection which limited exploration.</a:t>
            </a:r>
            <a:endParaRPr lang="en-JP" sz="1800">
              <a:solidFill>
                <a:schemeClr val="tx2"/>
              </a:solidFill>
            </a:endParaRPr>
          </a:p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Wall-clock time is machine-dependent.</a:t>
            </a:r>
            <a:endParaRPr lang="en-US" sz="1800" dirty="0">
              <a:solidFill>
                <a:schemeClr val="tx2"/>
              </a:solidFill>
              <a:ea typeface="+mn-lt"/>
              <a:cs typeface="+mn-lt"/>
            </a:endParaRPr>
          </a:p>
          <a:p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Only four instances tested; three had best-known values.</a:t>
            </a:r>
            <a:endParaRPr lang="en-JP" sz="1800" dirty="0">
              <a:solidFill>
                <a:schemeClr val="tx2"/>
              </a:solidFill>
              <a:ea typeface="+mn-lt"/>
              <a:cs typeface="+mn-lt"/>
            </a:endParaRPr>
          </a:p>
          <a:p>
            <a:pPr marL="0" indent="0">
              <a:buNone/>
            </a:pPr>
            <a:r>
              <a:rPr lang="en-JP" sz="1800" b="1">
                <a:solidFill>
                  <a:schemeClr val="tx2"/>
                </a:solidFill>
              </a:rPr>
              <a:t>Future Work</a:t>
            </a:r>
          </a:p>
          <a:p>
            <a:pPr lvl="0"/>
            <a:r>
              <a:rPr lang="en-JP" sz="1800">
                <a:solidFill>
                  <a:schemeClr val="tx2"/>
                </a:solidFill>
              </a:rPr>
              <a:t>Evaluate larger CVRPLIB benchmarks.</a:t>
            </a:r>
          </a:p>
          <a:p>
            <a:pPr lvl="0"/>
            <a:r>
              <a:rPr lang="en-JP" sz="1800">
                <a:solidFill>
                  <a:schemeClr val="tx2"/>
                </a:solidFill>
              </a:rPr>
              <a:t>Tune Harmony Search parameters.</a:t>
            </a:r>
          </a:p>
          <a:p>
            <a:pPr lvl="0"/>
            <a:r>
              <a:rPr lang="en-JP" sz="1800">
                <a:solidFill>
                  <a:schemeClr val="tx2"/>
                </a:solidFill>
              </a:rPr>
              <a:t>Introduce randomized memory consideration and exploration strategies.</a:t>
            </a:r>
          </a:p>
        </p:txBody>
      </p:sp>
    </p:spTree>
    <p:extLst>
      <p:ext uri="{BB962C8B-B14F-4D97-AF65-F5344CB8AC3E}">
        <p14:creationId xmlns:p14="http://schemas.microsoft.com/office/powerpoint/2010/main" val="31918725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4CA4CC-7ADB-4DB0-B7AA-CC37061745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pPr algn="just"/>
            <a:r>
              <a:rPr lang="en-US" sz="5400"/>
              <a:t>Conclusion</a:t>
            </a:r>
            <a:br>
              <a:rPr lang="en-US" sz="5400" dirty="0"/>
            </a:br>
            <a:r>
              <a:rPr lang="en-US" sz="1800"/>
              <a:t>YouTube link: </a:t>
            </a:r>
            <a:r>
              <a:rPr lang="en-US" sz="1800" dirty="0">
                <a:ea typeface="+mj-lt"/>
                <a:cs typeface="+mj-lt"/>
                <a:hlinkClick r:id="rId2"/>
              </a:rPr>
              <a:t>Comparing Nearest Neighbor, Clarke-Wright Savings &amp; Harmony Search to Solve CVRP</a:t>
            </a:r>
            <a:br>
              <a:rPr lang="en-US" sz="5400" dirty="0"/>
            </a:br>
            <a:endParaRPr lang="en-US" sz="5400" dirty="0"/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1627450" y="3462719"/>
            <a:ext cx="5410200" cy="18288"/>
          </a:xfrm>
          <a:custGeom>
            <a:avLst/>
            <a:gdLst>
              <a:gd name="csX0" fmla="*/ 0 w 5410200"/>
              <a:gd name="csY0" fmla="*/ 0 h 18288"/>
              <a:gd name="csX1" fmla="*/ 568071 w 5410200"/>
              <a:gd name="csY1" fmla="*/ 0 h 18288"/>
              <a:gd name="csX2" fmla="*/ 1298448 w 5410200"/>
              <a:gd name="csY2" fmla="*/ 0 h 18288"/>
              <a:gd name="csX3" fmla="*/ 1920621 w 5410200"/>
              <a:gd name="csY3" fmla="*/ 0 h 18288"/>
              <a:gd name="csX4" fmla="*/ 2488692 w 5410200"/>
              <a:gd name="csY4" fmla="*/ 0 h 18288"/>
              <a:gd name="csX5" fmla="*/ 3219069 w 5410200"/>
              <a:gd name="csY5" fmla="*/ 0 h 18288"/>
              <a:gd name="csX6" fmla="*/ 3895344 w 5410200"/>
              <a:gd name="csY6" fmla="*/ 0 h 18288"/>
              <a:gd name="csX7" fmla="*/ 4571619 w 5410200"/>
              <a:gd name="csY7" fmla="*/ 0 h 18288"/>
              <a:gd name="csX8" fmla="*/ 5410200 w 5410200"/>
              <a:gd name="csY8" fmla="*/ 0 h 18288"/>
              <a:gd name="csX9" fmla="*/ 5410200 w 5410200"/>
              <a:gd name="csY9" fmla="*/ 18288 h 18288"/>
              <a:gd name="csX10" fmla="*/ 4842129 w 5410200"/>
              <a:gd name="csY10" fmla="*/ 18288 h 18288"/>
              <a:gd name="csX11" fmla="*/ 4328160 w 5410200"/>
              <a:gd name="csY11" fmla="*/ 18288 h 18288"/>
              <a:gd name="csX12" fmla="*/ 3597783 w 5410200"/>
              <a:gd name="csY12" fmla="*/ 18288 h 18288"/>
              <a:gd name="csX13" fmla="*/ 3029712 w 5410200"/>
              <a:gd name="csY13" fmla="*/ 18288 h 18288"/>
              <a:gd name="csX14" fmla="*/ 2299335 w 5410200"/>
              <a:gd name="csY14" fmla="*/ 18288 h 18288"/>
              <a:gd name="csX15" fmla="*/ 1514856 w 5410200"/>
              <a:gd name="csY15" fmla="*/ 18288 h 18288"/>
              <a:gd name="csX16" fmla="*/ 892683 w 5410200"/>
              <a:gd name="csY16" fmla="*/ 18288 h 18288"/>
              <a:gd name="csX17" fmla="*/ 0 w 5410200"/>
              <a:gd name="csY17" fmla="*/ 18288 h 18288"/>
              <a:gd name="csX18" fmla="*/ 0 w 5410200"/>
              <a:gd name="csY18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8288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10730" y="6954"/>
                  <a:pt x="5410934" y="12839"/>
                  <a:pt x="5410200" y="18288"/>
                </a:cubicBezTo>
                <a:cubicBezTo>
                  <a:pt x="5139060" y="6751"/>
                  <a:pt x="5121593" y="31035"/>
                  <a:pt x="4842129" y="18288"/>
                </a:cubicBezTo>
                <a:cubicBezTo>
                  <a:pt x="4562665" y="5541"/>
                  <a:pt x="4448273" y="9487"/>
                  <a:pt x="4328160" y="18288"/>
                </a:cubicBezTo>
                <a:cubicBezTo>
                  <a:pt x="4208047" y="27089"/>
                  <a:pt x="3760936" y="22567"/>
                  <a:pt x="3597783" y="18288"/>
                </a:cubicBezTo>
                <a:cubicBezTo>
                  <a:pt x="3434630" y="14009"/>
                  <a:pt x="3299718" y="33213"/>
                  <a:pt x="3029712" y="18288"/>
                </a:cubicBezTo>
                <a:cubicBezTo>
                  <a:pt x="2759706" y="3363"/>
                  <a:pt x="2640159" y="27394"/>
                  <a:pt x="2299335" y="18288"/>
                </a:cubicBezTo>
                <a:cubicBezTo>
                  <a:pt x="1958511" y="9182"/>
                  <a:pt x="1801186" y="28985"/>
                  <a:pt x="1514856" y="18288"/>
                </a:cubicBezTo>
                <a:cubicBezTo>
                  <a:pt x="1228526" y="7591"/>
                  <a:pt x="1063509" y="-5305"/>
                  <a:pt x="892683" y="18288"/>
                </a:cubicBezTo>
                <a:cubicBezTo>
                  <a:pt x="721857" y="41881"/>
                  <a:pt x="186945" y="-20897"/>
                  <a:pt x="0" y="18288"/>
                </a:cubicBezTo>
                <a:cubicBezTo>
                  <a:pt x="-570" y="9279"/>
                  <a:pt x="132" y="5100"/>
                  <a:pt x="0" y="0"/>
                </a:cubicBezTo>
                <a:close/>
              </a:path>
              <a:path w="5410200" h="18288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09517" y="5414"/>
                  <a:pt x="5409480" y="12510"/>
                  <a:pt x="5410200" y="18288"/>
                </a:cubicBezTo>
                <a:cubicBezTo>
                  <a:pt x="5163327" y="41494"/>
                  <a:pt x="5008749" y="10693"/>
                  <a:pt x="4842129" y="18288"/>
                </a:cubicBezTo>
                <a:cubicBezTo>
                  <a:pt x="4675509" y="25883"/>
                  <a:pt x="4433401" y="-615"/>
                  <a:pt x="4165854" y="18288"/>
                </a:cubicBezTo>
                <a:cubicBezTo>
                  <a:pt x="3898308" y="37191"/>
                  <a:pt x="3809032" y="-8710"/>
                  <a:pt x="3543681" y="18288"/>
                </a:cubicBezTo>
                <a:cubicBezTo>
                  <a:pt x="3278330" y="45286"/>
                  <a:pt x="3073876" y="-15917"/>
                  <a:pt x="2759202" y="18288"/>
                </a:cubicBezTo>
                <a:cubicBezTo>
                  <a:pt x="2444528" y="52493"/>
                  <a:pt x="2204144" y="3372"/>
                  <a:pt x="1974723" y="18288"/>
                </a:cubicBezTo>
                <a:cubicBezTo>
                  <a:pt x="1745302" y="33204"/>
                  <a:pt x="1602335" y="31490"/>
                  <a:pt x="1406652" y="18288"/>
                </a:cubicBezTo>
                <a:cubicBezTo>
                  <a:pt x="1210969" y="5086"/>
                  <a:pt x="923948" y="3161"/>
                  <a:pt x="730377" y="18288"/>
                </a:cubicBezTo>
                <a:cubicBezTo>
                  <a:pt x="536806" y="33415"/>
                  <a:pt x="336496" y="-141"/>
                  <a:pt x="0" y="18288"/>
                </a:cubicBezTo>
                <a:cubicBezTo>
                  <a:pt x="-306" y="11061"/>
                  <a:pt x="-655" y="775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FD0B9A8E-DEE8-CDCE-3CDE-A2DB0ACB455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17151783"/>
              </p:ext>
            </p:extLst>
          </p:nvPr>
        </p:nvGraphicFramePr>
        <p:xfrm>
          <a:off x="4648018" y="640822"/>
          <a:ext cx="6900512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865066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1696</TotalTime>
  <Words>446</Words>
  <Application>Microsoft Office PowerPoint</Application>
  <PresentationFormat>Widescreen</PresentationFormat>
  <Paragraphs>77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5" baseType="lpstr">
      <vt:lpstr>Office Theme</vt:lpstr>
      <vt:lpstr>Comparing Nearest Neighbor, Clarke-Wright Savings, and Harmony Search for the CVRP</vt:lpstr>
      <vt:lpstr>Problem Overview</vt:lpstr>
      <vt:lpstr>Algorithms</vt:lpstr>
      <vt:lpstr>Research Questions</vt:lpstr>
      <vt:lpstr>Experimental Design</vt:lpstr>
      <vt:lpstr>Theoretical Complexity</vt:lpstr>
      <vt:lpstr>Nearest Neighbor </vt:lpstr>
      <vt:lpstr>Clarke-Wright Savings</vt:lpstr>
      <vt:lpstr>Harmony Search</vt:lpstr>
      <vt:lpstr>PowerPoint Presentation</vt:lpstr>
      <vt:lpstr>PowerPoint Presentation</vt:lpstr>
      <vt:lpstr>Analysis &amp; Interpretation</vt:lpstr>
      <vt:lpstr>Limitations &amp; Future Work</vt:lpstr>
      <vt:lpstr>Conclusion YouTube link: Comparing Nearest Neighbor, Clarke-Wright Savings &amp; Harmony Search to Solve CVRP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Yamashita, Tomu (tyamashit42)</dc:creator>
  <cp:lastModifiedBy>Yamashita, Tomu (tyamashit42)</cp:lastModifiedBy>
  <cp:revision>186</cp:revision>
  <dcterms:created xsi:type="dcterms:W3CDTF">2026-07-18T06:30:16Z</dcterms:created>
  <dcterms:modified xsi:type="dcterms:W3CDTF">2026-07-26T05:04:19Z</dcterms:modified>
</cp:coreProperties>
</file>